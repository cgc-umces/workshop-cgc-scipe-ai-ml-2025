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5" r:id="rId2"/>
    <p:sldId id="260" r:id="rId3"/>
    <p:sldId id="266" r:id="rId4"/>
    <p:sldId id="256" r:id="rId5"/>
    <p:sldId id="258" r:id="rId6"/>
    <p:sldId id="261" r:id="rId7"/>
    <p:sldId id="263" r:id="rId8"/>
    <p:sldId id="264" r:id="rId9"/>
    <p:sldId id="270" r:id="rId10"/>
    <p:sldId id="273" r:id="rId11"/>
    <p:sldId id="267" r:id="rId12"/>
    <p:sldId id="271" r:id="rId13"/>
    <p:sldId id="272"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08"/>
    <p:restoredTop sz="87671"/>
  </p:normalViewPr>
  <p:slideViewPr>
    <p:cSldViewPr snapToGrid="0">
      <p:cViewPr varScale="1">
        <p:scale>
          <a:sx n="111" d="100"/>
          <a:sy n="111" d="100"/>
        </p:scale>
        <p:origin x="7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2ECD3-8617-EA4E-AF8C-DF6EEB5D25E1}" type="datetimeFigureOut">
              <a:rPr lang="en-US" smtClean="0"/>
              <a:t>9/5/25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423AD1-A98C-8F49-908E-EDD594A7CA61}" type="slidenum">
              <a:rPr lang="en-US" smtClean="0"/>
              <a:t>‹#›</a:t>
            </a:fld>
            <a:endParaRPr lang="en-US"/>
          </a:p>
        </p:txBody>
      </p:sp>
    </p:spTree>
    <p:extLst>
      <p:ext uri="{BB962C8B-B14F-4D97-AF65-F5344CB8AC3E}">
        <p14:creationId xmlns:p14="http://schemas.microsoft.com/office/powerpoint/2010/main" val="281673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5</a:t>
            </a:fld>
            <a:endParaRPr lang="en-US"/>
          </a:p>
        </p:txBody>
      </p:sp>
    </p:spTree>
    <p:extLst>
      <p:ext uri="{BB962C8B-B14F-4D97-AF65-F5344CB8AC3E}">
        <p14:creationId xmlns:p14="http://schemas.microsoft.com/office/powerpoint/2010/main" val="2161096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7</a:t>
            </a:fld>
            <a:endParaRPr lang="en-US"/>
          </a:p>
        </p:txBody>
      </p:sp>
    </p:spTree>
    <p:extLst>
      <p:ext uri="{BB962C8B-B14F-4D97-AF65-F5344CB8AC3E}">
        <p14:creationId xmlns:p14="http://schemas.microsoft.com/office/powerpoint/2010/main" val="1064187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9</a:t>
            </a:fld>
            <a:endParaRPr lang="en-US"/>
          </a:p>
        </p:txBody>
      </p:sp>
    </p:spTree>
    <p:extLst>
      <p:ext uri="{BB962C8B-B14F-4D97-AF65-F5344CB8AC3E}">
        <p14:creationId xmlns:p14="http://schemas.microsoft.com/office/powerpoint/2010/main" val="4037122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7804-A93D-4224-4070-0EA57BC36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273CA-CE82-3DBA-CABB-3D33DAE40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95EAB-6ED1-F121-34F7-621EEECF4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810596-EE43-CA01-AD1A-ADCA67CDE94D}"/>
              </a:ext>
            </a:extLst>
          </p:cNvPr>
          <p:cNvSpPr>
            <a:spLocks noGrp="1"/>
          </p:cNvSpPr>
          <p:nvPr>
            <p:ph type="sldNum" sz="quarter" idx="5"/>
          </p:nvPr>
        </p:nvSpPr>
        <p:spPr/>
        <p:txBody>
          <a:bodyPr/>
          <a:lstStyle/>
          <a:p>
            <a:fld id="{9B423AD1-A98C-8F49-908E-EDD594A7CA61}" type="slidenum">
              <a:rPr lang="en-US" smtClean="0"/>
              <a:t>11</a:t>
            </a:fld>
            <a:endParaRPr lang="en-US"/>
          </a:p>
        </p:txBody>
      </p:sp>
    </p:spTree>
    <p:extLst>
      <p:ext uri="{BB962C8B-B14F-4D97-AF65-F5344CB8AC3E}">
        <p14:creationId xmlns:p14="http://schemas.microsoft.com/office/powerpoint/2010/main" val="4110449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13</a:t>
            </a:fld>
            <a:endParaRPr lang="en-US"/>
          </a:p>
        </p:txBody>
      </p:sp>
    </p:spTree>
    <p:extLst>
      <p:ext uri="{BB962C8B-B14F-4D97-AF65-F5344CB8AC3E}">
        <p14:creationId xmlns:p14="http://schemas.microsoft.com/office/powerpoint/2010/main" val="541868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D022-119C-5A2D-2489-68C5703D8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F3DAB-593A-1558-6990-59FDE351D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33B19-F0C7-08C9-A699-8EFA042D0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67EB7-D7A6-046E-8332-0AA227BAB1EE}"/>
              </a:ext>
            </a:extLst>
          </p:cNvPr>
          <p:cNvSpPr>
            <a:spLocks noGrp="1"/>
          </p:cNvSpPr>
          <p:nvPr>
            <p:ph type="sldNum" sz="quarter" idx="5"/>
          </p:nvPr>
        </p:nvSpPr>
        <p:spPr/>
        <p:txBody>
          <a:bodyPr/>
          <a:lstStyle/>
          <a:p>
            <a:fld id="{9B423AD1-A98C-8F49-908E-EDD594A7CA61}" type="slidenum">
              <a:rPr lang="en-US" smtClean="0"/>
              <a:t>14</a:t>
            </a:fld>
            <a:endParaRPr lang="en-US"/>
          </a:p>
        </p:txBody>
      </p:sp>
    </p:spTree>
    <p:extLst>
      <p:ext uri="{BB962C8B-B14F-4D97-AF65-F5344CB8AC3E}">
        <p14:creationId xmlns:p14="http://schemas.microsoft.com/office/powerpoint/2010/main" val="3879570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E1DA7-50AE-1DF9-4667-AD52B1DBD3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BBFD56-E084-3F9E-4D1B-F72FFE870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7C852C-86AB-41E8-E72B-E21D5B65C804}"/>
              </a:ext>
            </a:extLst>
          </p:cNvPr>
          <p:cNvSpPr>
            <a:spLocks noGrp="1"/>
          </p:cNvSpPr>
          <p:nvPr>
            <p:ph type="dt" sz="half" idx="10"/>
          </p:nvPr>
        </p:nvSpPr>
        <p:spPr/>
        <p:txBody>
          <a:bodyPr/>
          <a:lstStyle/>
          <a:p>
            <a:fld id="{37530C23-4342-7149-8450-A520C6008CF9}" type="datetime1">
              <a:rPr lang="en-US" smtClean="0"/>
              <a:t>9/5/25</a:t>
            </a:fld>
            <a:endParaRPr lang="en-US"/>
          </a:p>
        </p:txBody>
      </p:sp>
      <p:sp>
        <p:nvSpPr>
          <p:cNvPr id="5" name="Footer Placeholder 4">
            <a:extLst>
              <a:ext uri="{FF2B5EF4-FFF2-40B4-BE49-F238E27FC236}">
                <a16:creationId xmlns:a16="http://schemas.microsoft.com/office/drawing/2014/main" id="{357D5300-09DD-21CD-29E9-5C614986B2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81D49-54BB-B6ED-CEFB-FC2CFD53EAC3}"/>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4215707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E0589-0AE7-7A6F-FD02-3631A19864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858BD-894B-02EE-24B9-C135DA6129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69F21-E89D-4D34-E755-ABE9934C473B}"/>
              </a:ext>
            </a:extLst>
          </p:cNvPr>
          <p:cNvSpPr>
            <a:spLocks noGrp="1"/>
          </p:cNvSpPr>
          <p:nvPr>
            <p:ph type="dt" sz="half" idx="10"/>
          </p:nvPr>
        </p:nvSpPr>
        <p:spPr/>
        <p:txBody>
          <a:bodyPr/>
          <a:lstStyle/>
          <a:p>
            <a:fld id="{3FDDA657-CDBE-4A45-8A9C-C8F6047B0C36}" type="datetime1">
              <a:rPr lang="en-US" smtClean="0"/>
              <a:t>9/5/25</a:t>
            </a:fld>
            <a:endParaRPr lang="en-US"/>
          </a:p>
        </p:txBody>
      </p:sp>
      <p:sp>
        <p:nvSpPr>
          <p:cNvPr id="5" name="Footer Placeholder 4">
            <a:extLst>
              <a:ext uri="{FF2B5EF4-FFF2-40B4-BE49-F238E27FC236}">
                <a16:creationId xmlns:a16="http://schemas.microsoft.com/office/drawing/2014/main" id="{28C0B144-3546-B49E-BDC8-54EB4D1A0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15D4D0-7088-1EB1-F5E8-788668E13B47}"/>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882010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DFA3-F611-E318-B6DE-47B4AA2DA3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264D4F-9053-0CD4-0135-5B7F643A6B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333437-FC8D-3810-D27A-2DF41C9A3E78}"/>
              </a:ext>
            </a:extLst>
          </p:cNvPr>
          <p:cNvSpPr>
            <a:spLocks noGrp="1"/>
          </p:cNvSpPr>
          <p:nvPr>
            <p:ph type="dt" sz="half" idx="10"/>
          </p:nvPr>
        </p:nvSpPr>
        <p:spPr/>
        <p:txBody>
          <a:bodyPr/>
          <a:lstStyle/>
          <a:p>
            <a:fld id="{625F0CEF-415C-4648-A9B3-04A314CE1A21}" type="datetime1">
              <a:rPr lang="en-US" smtClean="0"/>
              <a:t>9/5/25</a:t>
            </a:fld>
            <a:endParaRPr lang="en-US"/>
          </a:p>
        </p:txBody>
      </p:sp>
      <p:sp>
        <p:nvSpPr>
          <p:cNvPr id="5" name="Footer Placeholder 4">
            <a:extLst>
              <a:ext uri="{FF2B5EF4-FFF2-40B4-BE49-F238E27FC236}">
                <a16:creationId xmlns:a16="http://schemas.microsoft.com/office/drawing/2014/main" id="{36D68F16-0E51-E810-14B0-3F8BB525F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F511B-51BB-B35B-EB10-BC21EF73E045}"/>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1141318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DBEA-7E9E-ADC1-FE40-1678AFFCA9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8483FE-09F7-FBC9-0FC7-20334CE57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5A392D-E6B9-F018-915E-348D068E39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526899-723C-35B1-C748-18CD85B9FC78}"/>
              </a:ext>
            </a:extLst>
          </p:cNvPr>
          <p:cNvSpPr>
            <a:spLocks noGrp="1"/>
          </p:cNvSpPr>
          <p:nvPr>
            <p:ph type="dt" sz="half" idx="10"/>
          </p:nvPr>
        </p:nvSpPr>
        <p:spPr/>
        <p:txBody>
          <a:bodyPr/>
          <a:lstStyle/>
          <a:p>
            <a:fld id="{3B2747BA-ADC4-4743-B576-9524D2C72C9F}" type="datetime1">
              <a:rPr lang="en-US" smtClean="0"/>
              <a:t>9/5/25</a:t>
            </a:fld>
            <a:endParaRPr lang="en-US"/>
          </a:p>
        </p:txBody>
      </p:sp>
      <p:sp>
        <p:nvSpPr>
          <p:cNvPr id="6" name="Footer Placeholder 5">
            <a:extLst>
              <a:ext uri="{FF2B5EF4-FFF2-40B4-BE49-F238E27FC236}">
                <a16:creationId xmlns:a16="http://schemas.microsoft.com/office/drawing/2014/main" id="{E5AEFF34-242C-1685-D8C9-1B013BE9B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83B3AE-60C0-F1AB-4552-06976399ACD7}"/>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2318884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E9341-89FA-9991-7953-678AE8BF81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DE396C-AA0C-0B36-E07A-65C090A424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C864F6-B3CF-997A-CCC7-79563D8CA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B42988-B9EE-C090-A89B-74A74AD558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594AE3-D3AC-617D-00A7-83FC30780A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945A3E-2BE4-7F4B-5E99-8564D4AF9708}"/>
              </a:ext>
            </a:extLst>
          </p:cNvPr>
          <p:cNvSpPr>
            <a:spLocks noGrp="1"/>
          </p:cNvSpPr>
          <p:nvPr>
            <p:ph type="dt" sz="half" idx="10"/>
          </p:nvPr>
        </p:nvSpPr>
        <p:spPr/>
        <p:txBody>
          <a:bodyPr/>
          <a:lstStyle/>
          <a:p>
            <a:fld id="{6AA8F3FB-BA4C-BD4F-AF55-25E29ED7CE78}" type="datetime1">
              <a:rPr lang="en-US" smtClean="0"/>
              <a:t>9/5/25</a:t>
            </a:fld>
            <a:endParaRPr lang="en-US"/>
          </a:p>
        </p:txBody>
      </p:sp>
      <p:sp>
        <p:nvSpPr>
          <p:cNvPr id="8" name="Footer Placeholder 7">
            <a:extLst>
              <a:ext uri="{FF2B5EF4-FFF2-40B4-BE49-F238E27FC236}">
                <a16:creationId xmlns:a16="http://schemas.microsoft.com/office/drawing/2014/main" id="{F87A36F6-B620-5DA6-E165-BE9A496DD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BED271-0710-0B64-8B35-D836E92ADC9D}"/>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2116071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31CB-E75C-0517-3A1B-4348A40C92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3BD02B-D7B4-99A5-7ECC-8E267F59D265}"/>
              </a:ext>
            </a:extLst>
          </p:cNvPr>
          <p:cNvSpPr>
            <a:spLocks noGrp="1"/>
          </p:cNvSpPr>
          <p:nvPr>
            <p:ph type="dt" sz="half" idx="10"/>
          </p:nvPr>
        </p:nvSpPr>
        <p:spPr/>
        <p:txBody>
          <a:bodyPr/>
          <a:lstStyle/>
          <a:p>
            <a:fld id="{5D081D2C-9D84-2C43-AC27-3105EC180CFF}" type="datetime1">
              <a:rPr lang="en-US" smtClean="0"/>
              <a:t>9/5/25</a:t>
            </a:fld>
            <a:endParaRPr lang="en-US"/>
          </a:p>
        </p:txBody>
      </p:sp>
      <p:sp>
        <p:nvSpPr>
          <p:cNvPr id="4" name="Footer Placeholder 3">
            <a:extLst>
              <a:ext uri="{FF2B5EF4-FFF2-40B4-BE49-F238E27FC236}">
                <a16:creationId xmlns:a16="http://schemas.microsoft.com/office/drawing/2014/main" id="{13A8EBBA-AE5E-6E8B-04FF-B22F899B16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94B923-E56F-837A-7D87-4E5C672704CC}"/>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2009240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D65EC2-0119-BD07-0D0A-D89116E77A9A}"/>
              </a:ext>
            </a:extLst>
          </p:cNvPr>
          <p:cNvSpPr>
            <a:spLocks noGrp="1"/>
          </p:cNvSpPr>
          <p:nvPr>
            <p:ph type="dt" sz="half" idx="10"/>
          </p:nvPr>
        </p:nvSpPr>
        <p:spPr/>
        <p:txBody>
          <a:bodyPr/>
          <a:lstStyle/>
          <a:p>
            <a:fld id="{7AA52591-0159-F44F-A676-5A2660FFB38F}" type="datetime1">
              <a:rPr lang="en-US" smtClean="0"/>
              <a:t>9/5/25</a:t>
            </a:fld>
            <a:endParaRPr lang="en-US"/>
          </a:p>
        </p:txBody>
      </p:sp>
      <p:sp>
        <p:nvSpPr>
          <p:cNvPr id="3" name="Footer Placeholder 2">
            <a:extLst>
              <a:ext uri="{FF2B5EF4-FFF2-40B4-BE49-F238E27FC236}">
                <a16:creationId xmlns:a16="http://schemas.microsoft.com/office/drawing/2014/main" id="{0D19CE63-4ED2-E18C-8695-3C539D8181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A1173E-D6E8-F8ED-E5B5-EC4C05CDB1EB}"/>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411295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198-A695-8A36-753B-A63A6B7EAB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176437-FE63-1DDF-FDA8-CB54330D1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676A72-1ABC-25C7-5C65-08741E6A7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46C884-60C9-9252-A0AB-71A0858812C8}"/>
              </a:ext>
            </a:extLst>
          </p:cNvPr>
          <p:cNvSpPr>
            <a:spLocks noGrp="1"/>
          </p:cNvSpPr>
          <p:nvPr>
            <p:ph type="dt" sz="half" idx="10"/>
          </p:nvPr>
        </p:nvSpPr>
        <p:spPr/>
        <p:txBody>
          <a:bodyPr/>
          <a:lstStyle/>
          <a:p>
            <a:fld id="{5EE555F2-5D5E-A445-90F9-C0B687054FE1}" type="datetime1">
              <a:rPr lang="en-US" smtClean="0"/>
              <a:t>9/5/25</a:t>
            </a:fld>
            <a:endParaRPr lang="en-US"/>
          </a:p>
        </p:txBody>
      </p:sp>
      <p:sp>
        <p:nvSpPr>
          <p:cNvPr id="6" name="Footer Placeholder 5">
            <a:extLst>
              <a:ext uri="{FF2B5EF4-FFF2-40B4-BE49-F238E27FC236}">
                <a16:creationId xmlns:a16="http://schemas.microsoft.com/office/drawing/2014/main" id="{BD6F43E1-2BD4-9AC6-2563-CA0E23E4F4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DF2A12-C089-70BE-2057-310BD76EA25A}"/>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3853984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257DF-9AC5-2C87-7B02-2FFF7B7524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D16B63-ED90-928A-EBAB-2BE4CCFDF9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8E8111-AF4A-56EE-7387-69B9967C7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FB0467-40DB-5484-0BB7-8A75215A4E43}"/>
              </a:ext>
            </a:extLst>
          </p:cNvPr>
          <p:cNvSpPr>
            <a:spLocks noGrp="1"/>
          </p:cNvSpPr>
          <p:nvPr>
            <p:ph type="dt" sz="half" idx="10"/>
          </p:nvPr>
        </p:nvSpPr>
        <p:spPr/>
        <p:txBody>
          <a:bodyPr/>
          <a:lstStyle/>
          <a:p>
            <a:fld id="{DDDB9C16-DA98-E343-BF93-F25893857EE1}" type="datetime1">
              <a:rPr lang="en-US" smtClean="0"/>
              <a:t>9/5/25</a:t>
            </a:fld>
            <a:endParaRPr lang="en-US"/>
          </a:p>
        </p:txBody>
      </p:sp>
      <p:sp>
        <p:nvSpPr>
          <p:cNvPr id="6" name="Footer Placeholder 5">
            <a:extLst>
              <a:ext uri="{FF2B5EF4-FFF2-40B4-BE49-F238E27FC236}">
                <a16:creationId xmlns:a16="http://schemas.microsoft.com/office/drawing/2014/main" id="{FCFB94FB-236D-1006-D6CD-5885EBF1A8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45DC5-9299-11E4-65CA-C2CEE77F3B15}"/>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1687228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94A85-3E8C-4776-8319-3E522CD5CD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0FF019-FFB2-14C5-93A0-FFB9A13111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7A93A4-0A4B-B6E0-D18F-F974D68D7F73}"/>
              </a:ext>
            </a:extLst>
          </p:cNvPr>
          <p:cNvSpPr>
            <a:spLocks noGrp="1"/>
          </p:cNvSpPr>
          <p:nvPr>
            <p:ph type="dt" sz="half" idx="10"/>
          </p:nvPr>
        </p:nvSpPr>
        <p:spPr/>
        <p:txBody>
          <a:bodyPr/>
          <a:lstStyle/>
          <a:p>
            <a:fld id="{8939FDDA-892C-2544-A33F-A84353360C81}" type="datetime1">
              <a:rPr lang="en-US" smtClean="0"/>
              <a:t>9/5/25</a:t>
            </a:fld>
            <a:endParaRPr lang="en-US"/>
          </a:p>
        </p:txBody>
      </p:sp>
      <p:sp>
        <p:nvSpPr>
          <p:cNvPr id="5" name="Footer Placeholder 4">
            <a:extLst>
              <a:ext uri="{FF2B5EF4-FFF2-40B4-BE49-F238E27FC236}">
                <a16:creationId xmlns:a16="http://schemas.microsoft.com/office/drawing/2014/main" id="{002D10C0-36B3-3820-F7A9-4F377C8513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B03F4-8F76-1250-7228-356BCE97DD70}"/>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1028823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05BB2B-BFBF-765D-15AD-4A659631ED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E2F8F1-52B2-3AB8-2715-6F4305DF7D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A5490-85EE-4D3C-6F9E-9D8E30FD0990}"/>
              </a:ext>
            </a:extLst>
          </p:cNvPr>
          <p:cNvSpPr>
            <a:spLocks noGrp="1"/>
          </p:cNvSpPr>
          <p:nvPr>
            <p:ph type="dt" sz="half" idx="10"/>
          </p:nvPr>
        </p:nvSpPr>
        <p:spPr/>
        <p:txBody>
          <a:bodyPr/>
          <a:lstStyle/>
          <a:p>
            <a:fld id="{129A1B54-99D7-404C-B5CE-BE91D7DC21FA}" type="datetime1">
              <a:rPr lang="en-US" smtClean="0"/>
              <a:t>9/5/25</a:t>
            </a:fld>
            <a:endParaRPr lang="en-US"/>
          </a:p>
        </p:txBody>
      </p:sp>
      <p:sp>
        <p:nvSpPr>
          <p:cNvPr id="5" name="Footer Placeholder 4">
            <a:extLst>
              <a:ext uri="{FF2B5EF4-FFF2-40B4-BE49-F238E27FC236}">
                <a16:creationId xmlns:a16="http://schemas.microsoft.com/office/drawing/2014/main" id="{2EE1A60C-BD72-7EE7-EE13-5151A3D00D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77EF6C-36C3-E5B4-E73C-195757EB1A6B}"/>
              </a:ext>
            </a:extLst>
          </p:cNvPr>
          <p:cNvSpPr>
            <a:spLocks noGrp="1"/>
          </p:cNvSpPr>
          <p:nvPr>
            <p:ph type="sldNum" sz="quarter" idx="12"/>
          </p:nvPr>
        </p:nvSpPr>
        <p:spPr/>
        <p:txBody>
          <a:bodyPr/>
          <a:lstStyle/>
          <a:p>
            <a:fld id="{83863B2D-D332-084B-BF65-F0D9A30319D9}" type="slidenum">
              <a:rPr lang="en-US" smtClean="0"/>
              <a:t>‹#›</a:t>
            </a:fld>
            <a:endParaRPr lang="en-US"/>
          </a:p>
        </p:txBody>
      </p:sp>
    </p:spTree>
    <p:extLst>
      <p:ext uri="{BB962C8B-B14F-4D97-AF65-F5344CB8AC3E}">
        <p14:creationId xmlns:p14="http://schemas.microsoft.com/office/powerpoint/2010/main" val="386526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53978-14C8-C281-F293-93442B9F06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410F9F-A9F0-87AA-FED8-CDED2EA123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A7EB0-75EF-3CF5-03F2-1B0C746B1A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EF84-D898-5A4B-85B9-C9DE956D6173}" type="datetime1">
              <a:rPr lang="en-US" smtClean="0"/>
              <a:t>9/5/25</a:t>
            </a:fld>
            <a:endParaRPr lang="en-US"/>
          </a:p>
        </p:txBody>
      </p:sp>
      <p:sp>
        <p:nvSpPr>
          <p:cNvPr id="5" name="Footer Placeholder 4">
            <a:extLst>
              <a:ext uri="{FF2B5EF4-FFF2-40B4-BE49-F238E27FC236}">
                <a16:creationId xmlns:a16="http://schemas.microsoft.com/office/drawing/2014/main" id="{888F5B78-2516-7ECF-6633-9B6251576C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E660A3-9BE5-DD13-17D7-929FE8677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863B2D-D332-084B-BF65-F0D9A30319D9}" type="slidenum">
              <a:rPr lang="en-US" smtClean="0"/>
              <a:t>‹#›</a:t>
            </a:fld>
            <a:endParaRPr lang="en-US"/>
          </a:p>
        </p:txBody>
      </p:sp>
    </p:spTree>
    <p:extLst>
      <p:ext uri="{BB962C8B-B14F-4D97-AF65-F5344CB8AC3E}">
        <p14:creationId xmlns:p14="http://schemas.microsoft.com/office/powerpoint/2010/main" val="1499112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hesapeakebay.net/issues/whats-at-risk/underwater-grasses" TargetMode="External"/><Relationship Id="rId2" Type="http://schemas.openxmlformats.org/officeDocument/2006/relationships/hyperlink" Target="http://www.eco-check.org/pdfs/do_letter.pdf" TargetMode="External"/><Relationship Id="rId1" Type="http://schemas.openxmlformats.org/officeDocument/2006/relationships/slideLayout" Target="../slideLayouts/slideLayout1.xml"/><Relationship Id="rId5" Type="http://schemas.openxmlformats.org/officeDocument/2006/relationships/hyperlink" Target="https://www.chesapeakebay.net/issues/threats-to-the-bay/nutrient-runoff" TargetMode="External"/><Relationship Id="rId4" Type="http://schemas.openxmlformats.org/officeDocument/2006/relationships/hyperlink" Target="https://www.chesapeakebay.net/issues/threats-to-the-bay/dead-zone"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374DB5-D2D8-423A-341F-5F60C4EB17F3}"/>
              </a:ext>
            </a:extLst>
          </p:cNvPr>
          <p:cNvSpPr txBox="1"/>
          <p:nvPr/>
        </p:nvSpPr>
        <p:spPr>
          <a:xfrm>
            <a:off x="2214563" y="2486025"/>
            <a:ext cx="8501062" cy="646331"/>
          </a:xfrm>
          <a:prstGeom prst="rect">
            <a:avLst/>
          </a:prstGeom>
          <a:noFill/>
        </p:spPr>
        <p:txBody>
          <a:bodyPr wrap="square" rtlCol="0">
            <a:spAutoFit/>
          </a:bodyPr>
          <a:lstStyle/>
          <a:p>
            <a:r>
              <a:rPr lang="en-US" sz="3600" b="1" dirty="0">
                <a:latin typeface="Arial" panose="020B0604020202020204" pitchFamily="34" charset="0"/>
                <a:cs typeface="Arial" panose="020B0604020202020204" pitchFamily="34" charset="0"/>
              </a:rPr>
              <a:t>CGC-SCIPE Workshop </a:t>
            </a:r>
            <a:r>
              <a:rPr lang="en-US" altLang="zh-CN" sz="3600" b="1" dirty="0">
                <a:latin typeface="Arial" panose="020B0604020202020204" pitchFamily="34" charset="0"/>
                <a:cs typeface="Arial" panose="020B0604020202020204" pitchFamily="34" charset="0"/>
              </a:rPr>
              <a:t>Day</a:t>
            </a:r>
            <a:r>
              <a:rPr lang="zh-CN" altLang="en-US" sz="3600" b="1" dirty="0">
                <a:latin typeface="Arial" panose="020B0604020202020204" pitchFamily="34" charset="0"/>
                <a:cs typeface="Arial" panose="020B0604020202020204" pitchFamily="34" charset="0"/>
              </a:rPr>
              <a:t> </a:t>
            </a:r>
            <a:r>
              <a:rPr lang="en-US" altLang="zh-CN" sz="3600" b="1" dirty="0">
                <a:latin typeface="Arial" panose="020B0604020202020204" pitchFamily="34" charset="0"/>
                <a:cs typeface="Arial" panose="020B0604020202020204" pitchFamily="34" charset="0"/>
              </a:rPr>
              <a:t>2</a:t>
            </a:r>
            <a:r>
              <a:rPr lang="zh-CN" altLang="en-US" sz="3600" b="1" dirty="0">
                <a:latin typeface="Arial" panose="020B0604020202020204" pitchFamily="34" charset="0"/>
                <a:cs typeface="Arial" panose="020B0604020202020204" pitchFamily="34" charset="0"/>
              </a:rPr>
              <a:t> </a:t>
            </a:r>
            <a:endParaRPr lang="en-US" sz="36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51BB9B0-C763-E281-9569-35DFA62FDBAF}"/>
              </a:ext>
            </a:extLst>
          </p:cNvPr>
          <p:cNvSpPr txBox="1"/>
          <p:nvPr/>
        </p:nvSpPr>
        <p:spPr>
          <a:xfrm>
            <a:off x="6981825" y="5105246"/>
            <a:ext cx="3000375" cy="369332"/>
          </a:xfrm>
          <a:prstGeom prst="rect">
            <a:avLst/>
          </a:prstGeom>
          <a:noFill/>
        </p:spPr>
        <p:txBody>
          <a:bodyPr wrap="square" rtlCol="0">
            <a:spAutoFit/>
          </a:bodyPr>
          <a:lstStyle/>
          <a:p>
            <a:r>
              <a:rPr lang="en-US" altLang="zh-CN" dirty="0"/>
              <a:t>Aug</a:t>
            </a:r>
            <a:r>
              <a:rPr lang="zh-CN" altLang="en-US" dirty="0"/>
              <a:t> </a:t>
            </a:r>
            <a:r>
              <a:rPr lang="en-US" dirty="0"/>
              <a:t>28, 2025</a:t>
            </a:r>
          </a:p>
        </p:txBody>
      </p:sp>
      <p:sp>
        <p:nvSpPr>
          <p:cNvPr id="6" name="Slide Number Placeholder 5">
            <a:extLst>
              <a:ext uri="{FF2B5EF4-FFF2-40B4-BE49-F238E27FC236}">
                <a16:creationId xmlns:a16="http://schemas.microsoft.com/office/drawing/2014/main" id="{F0050ABD-98AD-53F2-F88B-EC0A4EA8FEDC}"/>
              </a:ext>
            </a:extLst>
          </p:cNvPr>
          <p:cNvSpPr>
            <a:spLocks noGrp="1"/>
          </p:cNvSpPr>
          <p:nvPr>
            <p:ph type="sldNum" sz="quarter" idx="12"/>
          </p:nvPr>
        </p:nvSpPr>
        <p:spPr/>
        <p:txBody>
          <a:bodyPr/>
          <a:lstStyle/>
          <a:p>
            <a:fld id="{83863B2D-D332-084B-BF65-F0D9A30319D9}" type="slidenum">
              <a:rPr lang="en-US" smtClean="0"/>
              <a:t>1</a:t>
            </a:fld>
            <a:endParaRPr lang="en-US"/>
          </a:p>
        </p:txBody>
      </p:sp>
      <p:sp>
        <p:nvSpPr>
          <p:cNvPr id="2" name="TextBox 1">
            <a:extLst>
              <a:ext uri="{FF2B5EF4-FFF2-40B4-BE49-F238E27FC236}">
                <a16:creationId xmlns:a16="http://schemas.microsoft.com/office/drawing/2014/main" id="{ED9A5D00-6FD9-A6CF-4CF9-C4E1EF28C122}"/>
              </a:ext>
            </a:extLst>
          </p:cNvPr>
          <p:cNvSpPr txBox="1"/>
          <p:nvPr/>
        </p:nvSpPr>
        <p:spPr>
          <a:xfrm>
            <a:off x="6909363" y="4592806"/>
            <a:ext cx="2407535" cy="646331"/>
          </a:xfrm>
          <a:prstGeom prst="rect">
            <a:avLst/>
          </a:prstGeom>
          <a:noFill/>
        </p:spPr>
        <p:txBody>
          <a:bodyPr wrap="square" rtlCol="0">
            <a:spAutoFit/>
          </a:bodyPr>
          <a:lstStyle/>
          <a:p>
            <a:r>
              <a:rPr lang="en-US" altLang="zh-CN" dirty="0"/>
              <a:t>Dr.</a:t>
            </a:r>
            <a:r>
              <a:rPr lang="zh-CN" altLang="en-US" dirty="0"/>
              <a:t> </a:t>
            </a:r>
            <a:r>
              <a:rPr lang="en-US" altLang="zh-CN" dirty="0"/>
              <a:t>Xiaoxu</a:t>
            </a:r>
            <a:r>
              <a:rPr lang="zh-CN" altLang="en-US" dirty="0"/>
              <a:t> </a:t>
            </a:r>
            <a:r>
              <a:rPr lang="en-US" altLang="zh-CN" dirty="0"/>
              <a:t>Guo</a:t>
            </a:r>
          </a:p>
          <a:p>
            <a:endParaRPr lang="en-US" dirty="0"/>
          </a:p>
        </p:txBody>
      </p:sp>
      <p:sp>
        <p:nvSpPr>
          <p:cNvPr id="3" name="TextBox 2">
            <a:extLst>
              <a:ext uri="{FF2B5EF4-FFF2-40B4-BE49-F238E27FC236}">
                <a16:creationId xmlns:a16="http://schemas.microsoft.com/office/drawing/2014/main" id="{606C60D0-8B5A-3AD7-C569-406AA7A51DE3}"/>
              </a:ext>
            </a:extLst>
          </p:cNvPr>
          <p:cNvSpPr txBox="1"/>
          <p:nvPr/>
        </p:nvSpPr>
        <p:spPr>
          <a:xfrm>
            <a:off x="8612891" y="4559687"/>
            <a:ext cx="4205468" cy="369332"/>
          </a:xfrm>
          <a:prstGeom prst="rect">
            <a:avLst/>
          </a:prstGeom>
          <a:noFill/>
        </p:spPr>
        <p:txBody>
          <a:bodyPr wrap="square" rtlCol="0">
            <a:spAutoFit/>
          </a:bodyPr>
          <a:lstStyle/>
          <a:p>
            <a:r>
              <a:rPr lang="en-US" altLang="zh-CN" dirty="0" err="1"/>
              <a:t>xguo@umces.edu</a:t>
            </a:r>
            <a:endParaRPr lang="en-US" dirty="0"/>
          </a:p>
        </p:txBody>
      </p:sp>
    </p:spTree>
    <p:extLst>
      <p:ext uri="{BB962C8B-B14F-4D97-AF65-F5344CB8AC3E}">
        <p14:creationId xmlns:p14="http://schemas.microsoft.com/office/powerpoint/2010/main" val="280193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machine learning&#10;&#10;AI-generated content may be incorrect.">
            <a:extLst>
              <a:ext uri="{FF2B5EF4-FFF2-40B4-BE49-F238E27FC236}">
                <a16:creationId xmlns:a16="http://schemas.microsoft.com/office/drawing/2014/main" id="{D63BE64B-E58F-2292-7C33-AA7CA7AD6F5F}"/>
              </a:ext>
            </a:extLst>
          </p:cNvPr>
          <p:cNvPicPr>
            <a:picLocks noChangeAspect="1"/>
          </p:cNvPicPr>
          <p:nvPr/>
        </p:nvPicPr>
        <p:blipFill>
          <a:blip r:embed="rId2"/>
          <a:stretch>
            <a:fillRect/>
          </a:stretch>
        </p:blipFill>
        <p:spPr>
          <a:xfrm>
            <a:off x="316478" y="633240"/>
            <a:ext cx="5787626" cy="5793686"/>
          </a:xfrm>
          <a:prstGeom prst="rect">
            <a:avLst/>
          </a:prstGeom>
        </p:spPr>
      </p:pic>
      <p:pic>
        <p:nvPicPr>
          <p:cNvPr id="7" name="Picture 6" descr="A diagram of a learning process&#10;&#10;AI-generated content may be incorrect.">
            <a:extLst>
              <a:ext uri="{FF2B5EF4-FFF2-40B4-BE49-F238E27FC236}">
                <a16:creationId xmlns:a16="http://schemas.microsoft.com/office/drawing/2014/main" id="{656F3302-3C38-3FE8-9588-2B5FECCADD4D}"/>
              </a:ext>
            </a:extLst>
          </p:cNvPr>
          <p:cNvPicPr>
            <a:picLocks noChangeAspect="1"/>
          </p:cNvPicPr>
          <p:nvPr/>
        </p:nvPicPr>
        <p:blipFill>
          <a:blip r:embed="rId3"/>
          <a:stretch>
            <a:fillRect/>
          </a:stretch>
        </p:blipFill>
        <p:spPr>
          <a:xfrm>
            <a:off x="6824165" y="688912"/>
            <a:ext cx="4795115" cy="5793686"/>
          </a:xfrm>
          <a:prstGeom prst="rect">
            <a:avLst/>
          </a:prstGeom>
        </p:spPr>
      </p:pic>
      <p:sp>
        <p:nvSpPr>
          <p:cNvPr id="8" name="TextBox 7">
            <a:extLst>
              <a:ext uri="{FF2B5EF4-FFF2-40B4-BE49-F238E27FC236}">
                <a16:creationId xmlns:a16="http://schemas.microsoft.com/office/drawing/2014/main" id="{55966D95-222C-1644-224B-C0CAF35E181D}"/>
              </a:ext>
            </a:extLst>
          </p:cNvPr>
          <p:cNvSpPr txBox="1"/>
          <p:nvPr/>
        </p:nvSpPr>
        <p:spPr>
          <a:xfrm>
            <a:off x="316478" y="6581001"/>
            <a:ext cx="3424377"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Nebula Cloud</a:t>
            </a:r>
          </a:p>
        </p:txBody>
      </p:sp>
      <p:sp>
        <p:nvSpPr>
          <p:cNvPr id="9" name="TextBox 8">
            <a:extLst>
              <a:ext uri="{FF2B5EF4-FFF2-40B4-BE49-F238E27FC236}">
                <a16:creationId xmlns:a16="http://schemas.microsoft.com/office/drawing/2014/main" id="{C8C92DC5-4C3E-3E4D-4300-3B37EDD5E04C}"/>
              </a:ext>
            </a:extLst>
          </p:cNvPr>
          <p:cNvSpPr txBox="1"/>
          <p:nvPr/>
        </p:nvSpPr>
        <p:spPr>
          <a:xfrm>
            <a:off x="7036592" y="6581000"/>
            <a:ext cx="3424377"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MATLAB MathWorks</a:t>
            </a:r>
          </a:p>
        </p:txBody>
      </p:sp>
      <p:sp>
        <p:nvSpPr>
          <p:cNvPr id="10" name="Slide Number Placeholder 9">
            <a:extLst>
              <a:ext uri="{FF2B5EF4-FFF2-40B4-BE49-F238E27FC236}">
                <a16:creationId xmlns:a16="http://schemas.microsoft.com/office/drawing/2014/main" id="{415987E8-D729-3F26-CC2A-B92AAF973BC8}"/>
              </a:ext>
            </a:extLst>
          </p:cNvPr>
          <p:cNvSpPr>
            <a:spLocks noGrp="1"/>
          </p:cNvSpPr>
          <p:nvPr>
            <p:ph type="sldNum" sz="quarter" idx="12"/>
          </p:nvPr>
        </p:nvSpPr>
        <p:spPr/>
        <p:txBody>
          <a:bodyPr/>
          <a:lstStyle/>
          <a:p>
            <a:fld id="{83863B2D-D332-084B-BF65-F0D9A30319D9}" type="slidenum">
              <a:rPr lang="en-US" smtClean="0"/>
              <a:t>2</a:t>
            </a:fld>
            <a:endParaRPr lang="en-US"/>
          </a:p>
        </p:txBody>
      </p:sp>
      <p:sp>
        <p:nvSpPr>
          <p:cNvPr id="2" name="Oval 1">
            <a:extLst>
              <a:ext uri="{FF2B5EF4-FFF2-40B4-BE49-F238E27FC236}">
                <a16:creationId xmlns:a16="http://schemas.microsoft.com/office/drawing/2014/main" id="{60EB226D-D991-0A2F-C319-50D183FFC101}"/>
              </a:ext>
            </a:extLst>
          </p:cNvPr>
          <p:cNvSpPr/>
          <p:nvPr/>
        </p:nvSpPr>
        <p:spPr>
          <a:xfrm>
            <a:off x="8610600" y="5005532"/>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58AAE6C-2950-8E15-265E-5AF837FE752E}"/>
              </a:ext>
            </a:extLst>
          </p:cNvPr>
          <p:cNvSpPr/>
          <p:nvPr/>
        </p:nvSpPr>
        <p:spPr>
          <a:xfrm>
            <a:off x="8610598" y="5498379"/>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E7F4BE-C033-7FE9-8D66-645944765964}"/>
              </a:ext>
            </a:extLst>
          </p:cNvPr>
          <p:cNvSpPr/>
          <p:nvPr/>
        </p:nvSpPr>
        <p:spPr>
          <a:xfrm>
            <a:off x="8610599" y="5942903"/>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89C59D6-1148-00F5-DA46-396148FAE0FF}"/>
              </a:ext>
            </a:extLst>
          </p:cNvPr>
          <p:cNvSpPr/>
          <p:nvPr/>
        </p:nvSpPr>
        <p:spPr>
          <a:xfrm>
            <a:off x="4107367" y="2832100"/>
            <a:ext cx="1010733" cy="2921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24B7362-7267-18D3-A4C3-3461D0A03A33}"/>
              </a:ext>
            </a:extLst>
          </p:cNvPr>
          <p:cNvSpPr/>
          <p:nvPr/>
        </p:nvSpPr>
        <p:spPr>
          <a:xfrm>
            <a:off x="1422400" y="4330700"/>
            <a:ext cx="850900" cy="5207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627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901A06-DD49-CE28-B779-817DCA5BBC60}"/>
              </a:ext>
            </a:extLst>
          </p:cNvPr>
          <p:cNvSpPr txBox="1"/>
          <p:nvPr/>
        </p:nvSpPr>
        <p:spPr>
          <a:xfrm>
            <a:off x="899337" y="1705401"/>
            <a:ext cx="10001955" cy="707886"/>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Dissolved Oxygen at Depth in Chesapeake Bay from Surface Measurements</a:t>
            </a:r>
          </a:p>
        </p:txBody>
      </p:sp>
      <p:sp>
        <p:nvSpPr>
          <p:cNvPr id="8" name="Rounded Rectangle 7">
            <a:extLst>
              <a:ext uri="{FF2B5EF4-FFF2-40B4-BE49-F238E27FC236}">
                <a16:creationId xmlns:a16="http://schemas.microsoft.com/office/drawing/2014/main" id="{E3C6EFDB-707B-7183-12CF-AC260D5D49F2}"/>
              </a:ext>
            </a:extLst>
          </p:cNvPr>
          <p:cNvSpPr/>
          <p:nvPr/>
        </p:nvSpPr>
        <p:spPr>
          <a:xfrm>
            <a:off x="899335" y="1650412"/>
            <a:ext cx="10393332" cy="747575"/>
          </a:xfrm>
          <a:prstGeom prst="round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5DAAE19A-ED9C-A974-B18B-1DE1A6C1DD70}"/>
              </a:ext>
            </a:extLst>
          </p:cNvPr>
          <p:cNvSpPr>
            <a:spLocks noGrp="1"/>
          </p:cNvSpPr>
          <p:nvPr>
            <p:ph type="sldNum" sz="quarter" idx="12"/>
          </p:nvPr>
        </p:nvSpPr>
        <p:spPr/>
        <p:txBody>
          <a:bodyPr/>
          <a:lstStyle/>
          <a:p>
            <a:fld id="{83863B2D-D332-084B-BF65-F0D9A30319D9}" type="slidenum">
              <a:rPr lang="en-US" smtClean="0"/>
              <a:t>3</a:t>
            </a:fld>
            <a:endParaRPr lang="en-US"/>
          </a:p>
        </p:txBody>
      </p:sp>
    </p:spTree>
    <p:extLst>
      <p:ext uri="{BB962C8B-B14F-4D97-AF65-F5344CB8AC3E}">
        <p14:creationId xmlns:p14="http://schemas.microsoft.com/office/powerpoint/2010/main" val="3516340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945E6A-CD2C-7927-6EBD-F1123EAEFC4E}"/>
              </a:ext>
            </a:extLst>
          </p:cNvPr>
          <p:cNvSpPr txBox="1"/>
          <p:nvPr/>
        </p:nvSpPr>
        <p:spPr>
          <a:xfrm>
            <a:off x="156385" y="102501"/>
            <a:ext cx="11718940"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Dissolved Oxygen at Depth in Chesapeake Bay from Surface Measurements</a:t>
            </a:r>
          </a:p>
        </p:txBody>
      </p:sp>
      <p:sp>
        <p:nvSpPr>
          <p:cNvPr id="11" name="TextBox 10">
            <a:extLst>
              <a:ext uri="{FF2B5EF4-FFF2-40B4-BE49-F238E27FC236}">
                <a16:creationId xmlns:a16="http://schemas.microsoft.com/office/drawing/2014/main" id="{FFFD1B29-BB94-5F8E-F009-504CE4CCCB1F}"/>
              </a:ext>
            </a:extLst>
          </p:cNvPr>
          <p:cNvSpPr txBox="1"/>
          <p:nvPr/>
        </p:nvSpPr>
        <p:spPr>
          <a:xfrm>
            <a:off x="156385" y="526984"/>
            <a:ext cx="11492088" cy="5909310"/>
          </a:xfrm>
          <a:prstGeom prst="rect">
            <a:avLst/>
          </a:prstGeom>
          <a:noFill/>
        </p:spPr>
        <p:txBody>
          <a:bodyPr wrap="square">
            <a:spAutoFit/>
          </a:bodyPr>
          <a:lstStyle/>
          <a:p>
            <a:pPr algn="l" fontAlgn="auto">
              <a:buNone/>
            </a:pPr>
            <a:r>
              <a:rPr lang="en-US" b="0" i="0" u="none" strike="noStrike" dirty="0">
                <a:solidFill>
                  <a:srgbClr val="292929"/>
                </a:solidFill>
                <a:effectLst/>
                <a:latin typeface="Arial" panose="020B0604020202020204" pitchFamily="34" charset="0"/>
                <a:cs typeface="Arial" panose="020B0604020202020204" pitchFamily="34" charset="0"/>
              </a:rPr>
              <a:t>Dissolved oxygen (DO) is the amount of oxygen gas that is present in the water. </a:t>
            </a:r>
          </a:p>
          <a:p>
            <a:pPr algn="l" fontAlgn="auto">
              <a:buNone/>
            </a:pPr>
            <a:endParaRPr lang="en-US" b="1" i="0" u="none" strike="noStrike" dirty="0">
              <a:solidFill>
                <a:srgbClr val="292929"/>
              </a:solidFill>
              <a:effectLst/>
              <a:latin typeface="Arial" panose="020B0604020202020204" pitchFamily="34" charset="0"/>
              <a:cs typeface="Arial" panose="020B0604020202020204" pitchFamily="34" charset="0"/>
            </a:endParaRPr>
          </a:p>
          <a:p>
            <a:pPr algn="l" fontAlgn="auto">
              <a:buNone/>
            </a:pPr>
            <a:r>
              <a:rPr lang="en-US" b="1" i="0" u="none" strike="noStrike" dirty="0">
                <a:solidFill>
                  <a:srgbClr val="292929"/>
                </a:solidFill>
                <a:effectLst/>
                <a:latin typeface="Arial" panose="020B0604020202020204" pitchFamily="34" charset="0"/>
                <a:cs typeface="Arial" panose="020B0604020202020204" pitchFamily="34" charset="0"/>
              </a:rPr>
              <a:t>Why is dissolved oxygen important?</a:t>
            </a:r>
          </a:p>
          <a:p>
            <a:pPr algn="l" fontAlgn="auto">
              <a:buNone/>
            </a:pPr>
            <a:r>
              <a:rPr lang="en-US" b="0" i="0" u="none" strike="noStrike" dirty="0">
                <a:solidFill>
                  <a:srgbClr val="292929"/>
                </a:solidFill>
                <a:effectLst/>
                <a:latin typeface="Arial" panose="020B0604020202020204" pitchFamily="34" charset="0"/>
                <a:cs typeface="Arial" panose="020B0604020202020204" pitchFamily="34" charset="0"/>
              </a:rPr>
              <a:t>Like humans, all of the Chesapeake Bay’s animals—from the fish and crabs that swim through its waters to the worms that bury themselves in its muddy bottom—</a:t>
            </a:r>
            <a:r>
              <a:rPr lang="en-US" b="0" i="0" u="none" strike="noStrike" dirty="0">
                <a:solidFill>
                  <a:srgbClr val="292929"/>
                </a:solidFill>
                <a:effectLst/>
                <a:latin typeface="Arial" panose="020B0604020202020204" pitchFamily="34" charset="0"/>
                <a:cs typeface="Arial" panose="020B0604020202020204" pitchFamily="34" charset="0"/>
                <a:hlinkClick r:id="rId2"/>
              </a:rPr>
              <a:t>need oxygen</a:t>
            </a:r>
            <a:r>
              <a:rPr lang="en-US" b="0" i="0" u="none" strike="noStrike" dirty="0">
                <a:solidFill>
                  <a:srgbClr val="292929"/>
                </a:solidFill>
                <a:effectLst/>
                <a:latin typeface="Arial" panose="020B0604020202020204" pitchFamily="34" charset="0"/>
                <a:cs typeface="Arial" panose="020B0604020202020204" pitchFamily="34" charset="0"/>
              </a:rPr>
              <a:t> to survive.</a:t>
            </a:r>
          </a:p>
          <a:p>
            <a:pPr fontAlgn="auto"/>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How does oxygen get into the water?</a:t>
            </a:r>
          </a:p>
          <a:p>
            <a:pPr fontAlgn="auto"/>
            <a:r>
              <a:rPr lang="en-US" dirty="0">
                <a:latin typeface="Arial" panose="020B0604020202020204" pitchFamily="34" charset="0"/>
                <a:cs typeface="Arial" panose="020B0604020202020204" pitchFamily="34" charset="0"/>
              </a:rPr>
              <a:t>1. Oxygen from the atmosphere dissolves at the water’s surface (more in cold water than warm).</a:t>
            </a:r>
          </a:p>
          <a:p>
            <a:pPr fontAlgn="auto"/>
            <a:r>
              <a:rPr lang="en-US" dirty="0">
                <a:latin typeface="Arial" panose="020B0604020202020204" pitchFamily="34" charset="0"/>
                <a:cs typeface="Arial" panose="020B0604020202020204" pitchFamily="34" charset="0"/>
              </a:rPr>
              <a:t>2. Algae and </a:t>
            </a:r>
            <a:r>
              <a:rPr lang="en-US" dirty="0">
                <a:latin typeface="Arial" panose="020B0604020202020204" pitchFamily="34" charset="0"/>
                <a:cs typeface="Arial" panose="020B0604020202020204" pitchFamily="34" charset="0"/>
                <a:hlinkClick r:id="rId3"/>
              </a:rPr>
              <a:t>underwater </a:t>
            </a:r>
            <a:r>
              <a:rPr lang="en-US" dirty="0">
                <a:latin typeface="Arial" panose="020B0604020202020204" pitchFamily="34" charset="0"/>
                <a:cs typeface="Arial" panose="020B0604020202020204" pitchFamily="34" charset="0"/>
              </a:rPr>
              <a:t>plants release oxygen during photosynthesis.</a:t>
            </a:r>
          </a:p>
          <a:p>
            <a:pPr fontAlgn="auto"/>
            <a:endParaRPr lang="en-US" b="1" dirty="0">
              <a:latin typeface="Arial" panose="020B0604020202020204" pitchFamily="34" charset="0"/>
              <a:cs typeface="Arial" panose="020B0604020202020204" pitchFamily="34" charset="0"/>
            </a:endParaRPr>
          </a:p>
          <a:p>
            <a:pPr fontAlgn="auto"/>
            <a:r>
              <a:rPr lang="en-US" b="1" dirty="0">
                <a:latin typeface="Arial" panose="020B0604020202020204" pitchFamily="34" charset="0"/>
                <a:cs typeface="Arial" panose="020B0604020202020204" pitchFamily="34" charset="0"/>
              </a:rPr>
              <a:t>How do low-oxygen areas form?</a:t>
            </a:r>
          </a:p>
          <a:p>
            <a:pPr fontAlgn="auto"/>
            <a:r>
              <a:rPr lang="en-US" dirty="0">
                <a:latin typeface="Arial" panose="020B0604020202020204" pitchFamily="34" charset="0"/>
                <a:cs typeface="Arial" panose="020B0604020202020204" pitchFamily="34" charset="0"/>
              </a:rPr>
              <a:t>Respiration or conversion of organic carbon to CO</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requires oxygen. In Chesapeake Bay, phytoplankton that bloom in spring due to nutrients from rivers, eventually sink to the bottom. Bacteria are fueled by this “food”, respiring the organic material and using up oxygen. Warmer temperatures at the Bay surface seal off this low oxygen zone from the atmosphere. This creates hypoxic, or low-oxygen, regions with less than 2 mg/L of dissolved oxygen. These areas are often called “</a:t>
            </a:r>
            <a:r>
              <a:rPr lang="en-US" dirty="0">
                <a:latin typeface="Arial" panose="020B0604020202020204" pitchFamily="34" charset="0"/>
                <a:cs typeface="Arial" panose="020B0604020202020204" pitchFamily="34" charset="0"/>
                <a:hlinkClick r:id="rId4"/>
              </a:rPr>
              <a:t>dead zones</a:t>
            </a:r>
            <a:r>
              <a:rPr lang="en-US" dirty="0">
                <a:latin typeface="Arial" panose="020B0604020202020204" pitchFamily="34" charset="0"/>
                <a:cs typeface="Arial" panose="020B0604020202020204" pitchFamily="34" charset="0"/>
              </a:rPr>
              <a:t>” because most animals cannot survive there. Areas in the Bay that have low dissolved oxygen levels are the result of an interaction of natural and man-made factors, including temperature, </a:t>
            </a:r>
            <a:r>
              <a:rPr lang="en-US" dirty="0">
                <a:latin typeface="Arial" panose="020B0604020202020204" pitchFamily="34" charset="0"/>
                <a:cs typeface="Arial" panose="020B0604020202020204" pitchFamily="34" charset="0"/>
                <a:hlinkClick r:id="rId5"/>
              </a:rPr>
              <a:t>nutrient pollution</a:t>
            </a:r>
            <a:r>
              <a:rPr lang="en-US" dirty="0">
                <a:latin typeface="Arial" panose="020B0604020202020204" pitchFamily="34" charset="0"/>
                <a:cs typeface="Arial" panose="020B0604020202020204" pitchFamily="34" charset="0"/>
              </a:rPr>
              <a:t>, water flows, and the shape of the Bay's bottom.</a:t>
            </a:r>
          </a:p>
          <a:p>
            <a:pPr fontAlgn="auto"/>
            <a:endParaRPr lang="en-US" dirty="0">
              <a:latin typeface="Arial" panose="020B0604020202020204" pitchFamily="34" charset="0"/>
              <a:cs typeface="Arial" panose="020B0604020202020204" pitchFamily="34" charset="0"/>
            </a:endParaRPr>
          </a:p>
          <a:p>
            <a:pPr fontAlgn="auto"/>
            <a:r>
              <a:rPr lang="en-US" dirty="0">
                <a:latin typeface="Arial" panose="020B0604020202020204" pitchFamily="34" charset="0"/>
                <a:cs typeface="Arial" panose="020B0604020202020204" pitchFamily="34" charset="0"/>
              </a:rPr>
              <a:t>Thus, surface quantities like temperature or chlorophyll might be related to the size and intensity of the “Dead Zone” below.</a:t>
            </a:r>
          </a:p>
        </p:txBody>
      </p:sp>
      <p:sp>
        <p:nvSpPr>
          <p:cNvPr id="12" name="TextBox 11">
            <a:extLst>
              <a:ext uri="{FF2B5EF4-FFF2-40B4-BE49-F238E27FC236}">
                <a16:creationId xmlns:a16="http://schemas.microsoft.com/office/drawing/2014/main" id="{9F899034-393B-7C9B-72EE-19F14E4843BF}"/>
              </a:ext>
            </a:extLst>
          </p:cNvPr>
          <p:cNvSpPr txBox="1"/>
          <p:nvPr/>
        </p:nvSpPr>
        <p:spPr>
          <a:xfrm>
            <a:off x="156385" y="6380723"/>
            <a:ext cx="14799734"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https://</a:t>
            </a:r>
            <a:r>
              <a:rPr lang="en-US" sz="1200" dirty="0" err="1">
                <a:latin typeface="Arial" panose="020B0604020202020204" pitchFamily="34" charset="0"/>
                <a:cs typeface="Arial" panose="020B0604020202020204" pitchFamily="34" charset="0"/>
              </a:rPr>
              <a:t>www.chesapeakebay.net</a:t>
            </a:r>
            <a:r>
              <a:rPr lang="en-US" sz="1200" dirty="0">
                <a:latin typeface="Arial" panose="020B0604020202020204" pitchFamily="34" charset="0"/>
                <a:cs typeface="Arial" panose="020B0604020202020204" pitchFamily="34" charset="0"/>
              </a:rPr>
              <a:t>/discover/ecosystem/dissolved-oxygen#:~:text=Why%20is%20dissolved%20oxygen%20important,bottom—need%20oxygen%20to%20survive.</a:t>
            </a:r>
          </a:p>
        </p:txBody>
      </p:sp>
      <p:sp>
        <p:nvSpPr>
          <p:cNvPr id="13" name="Slide Number Placeholder 12">
            <a:extLst>
              <a:ext uri="{FF2B5EF4-FFF2-40B4-BE49-F238E27FC236}">
                <a16:creationId xmlns:a16="http://schemas.microsoft.com/office/drawing/2014/main" id="{2000F8AD-BA81-0342-F59E-8F8599BEF7B8}"/>
              </a:ext>
            </a:extLst>
          </p:cNvPr>
          <p:cNvSpPr>
            <a:spLocks noGrp="1"/>
          </p:cNvSpPr>
          <p:nvPr>
            <p:ph type="sldNum" sz="quarter" idx="12"/>
          </p:nvPr>
        </p:nvSpPr>
        <p:spPr/>
        <p:txBody>
          <a:bodyPr/>
          <a:lstStyle/>
          <a:p>
            <a:fld id="{83863B2D-D332-084B-BF65-F0D9A30319D9}" type="slidenum">
              <a:rPr lang="en-US" smtClean="0"/>
              <a:t>4</a:t>
            </a:fld>
            <a:endParaRPr lang="en-US"/>
          </a:p>
        </p:txBody>
      </p:sp>
    </p:spTree>
    <p:extLst>
      <p:ext uri="{BB962C8B-B14F-4D97-AF65-F5344CB8AC3E}">
        <p14:creationId xmlns:p14="http://schemas.microsoft.com/office/powerpoint/2010/main" val="251333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Up-Down Arrow 95">
            <a:extLst>
              <a:ext uri="{FF2B5EF4-FFF2-40B4-BE49-F238E27FC236}">
                <a16:creationId xmlns:a16="http://schemas.microsoft.com/office/drawing/2014/main" id="{64B89BD2-C239-56B7-6B4D-A963E9988CAC}"/>
              </a:ext>
            </a:extLst>
          </p:cNvPr>
          <p:cNvSpPr/>
          <p:nvPr/>
        </p:nvSpPr>
        <p:spPr>
          <a:xfrm>
            <a:off x="6285526" y="4262225"/>
            <a:ext cx="417583" cy="787019"/>
          </a:xfrm>
          <a:prstGeom prst="upDownArrow">
            <a:avLst/>
          </a:prstGeom>
          <a:pattFill prst="ltHorz">
            <a:fgClr>
              <a:schemeClr val="bg1"/>
            </a:fgClr>
            <a:bgClr>
              <a:schemeClr val="bg2">
                <a:lumMod val="90000"/>
              </a:schemeClr>
            </a:bgClr>
          </a:pattFill>
          <a:ln>
            <a:noFill/>
            <a:prstDash val="solid"/>
            <a:extLst>
              <a:ext uri="{C807C97D-BFC1-408E-A445-0C87EB9F89A2}">
                <ask:lineSketchStyleProps xmlns:ask="http://schemas.microsoft.com/office/drawing/2018/sketchyshapes" sd="1219033472">
                  <a:custGeom>
                    <a:avLst/>
                    <a:gdLst>
                      <a:gd name="connsiteX0" fmla="*/ 0 w 252355"/>
                      <a:gd name="connsiteY0" fmla="*/ 126178 h 715833"/>
                      <a:gd name="connsiteX1" fmla="*/ 126178 w 252355"/>
                      <a:gd name="connsiteY1" fmla="*/ 0 h 715833"/>
                      <a:gd name="connsiteX2" fmla="*/ 252355 w 252355"/>
                      <a:gd name="connsiteY2" fmla="*/ 126178 h 715833"/>
                      <a:gd name="connsiteX3" fmla="*/ 189266 w 252355"/>
                      <a:gd name="connsiteY3" fmla="*/ 126178 h 715833"/>
                      <a:gd name="connsiteX4" fmla="*/ 189266 w 252355"/>
                      <a:gd name="connsiteY4" fmla="*/ 589656 h 715833"/>
                      <a:gd name="connsiteX5" fmla="*/ 252355 w 252355"/>
                      <a:gd name="connsiteY5" fmla="*/ 589656 h 715833"/>
                      <a:gd name="connsiteX6" fmla="*/ 126178 w 252355"/>
                      <a:gd name="connsiteY6" fmla="*/ 715833 h 715833"/>
                      <a:gd name="connsiteX7" fmla="*/ 0 w 252355"/>
                      <a:gd name="connsiteY7" fmla="*/ 589656 h 715833"/>
                      <a:gd name="connsiteX8" fmla="*/ 63089 w 252355"/>
                      <a:gd name="connsiteY8" fmla="*/ 589656 h 715833"/>
                      <a:gd name="connsiteX9" fmla="*/ 63089 w 252355"/>
                      <a:gd name="connsiteY9" fmla="*/ 126178 h 715833"/>
                      <a:gd name="connsiteX10" fmla="*/ 0 w 252355"/>
                      <a:gd name="connsiteY10" fmla="*/ 126178 h 71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355" h="715833" fill="none" extrusionOk="0">
                        <a:moveTo>
                          <a:pt x="0" y="126178"/>
                        </a:moveTo>
                        <a:cubicBezTo>
                          <a:pt x="18894" y="101053"/>
                          <a:pt x="72486" y="65975"/>
                          <a:pt x="126178" y="0"/>
                        </a:cubicBezTo>
                        <a:cubicBezTo>
                          <a:pt x="162219" y="30467"/>
                          <a:pt x="221987" y="110270"/>
                          <a:pt x="252355" y="126178"/>
                        </a:cubicBezTo>
                        <a:cubicBezTo>
                          <a:pt x="241033" y="130503"/>
                          <a:pt x="220693" y="129067"/>
                          <a:pt x="189266" y="126178"/>
                        </a:cubicBezTo>
                        <a:cubicBezTo>
                          <a:pt x="171132" y="294961"/>
                          <a:pt x="189406" y="462714"/>
                          <a:pt x="189266" y="589656"/>
                        </a:cubicBezTo>
                        <a:cubicBezTo>
                          <a:pt x="196685" y="588389"/>
                          <a:pt x="243114" y="588565"/>
                          <a:pt x="252355" y="589656"/>
                        </a:cubicBezTo>
                        <a:cubicBezTo>
                          <a:pt x="220668" y="636871"/>
                          <a:pt x="163504" y="683321"/>
                          <a:pt x="126178" y="715833"/>
                        </a:cubicBezTo>
                        <a:cubicBezTo>
                          <a:pt x="82731" y="687289"/>
                          <a:pt x="45051" y="612162"/>
                          <a:pt x="0" y="589656"/>
                        </a:cubicBezTo>
                        <a:cubicBezTo>
                          <a:pt x="22038" y="592917"/>
                          <a:pt x="51992" y="588023"/>
                          <a:pt x="63089" y="589656"/>
                        </a:cubicBezTo>
                        <a:cubicBezTo>
                          <a:pt x="83565" y="540680"/>
                          <a:pt x="42763" y="223211"/>
                          <a:pt x="63089" y="126178"/>
                        </a:cubicBezTo>
                        <a:cubicBezTo>
                          <a:pt x="46023" y="120924"/>
                          <a:pt x="18273" y="128969"/>
                          <a:pt x="0" y="126178"/>
                        </a:cubicBezTo>
                        <a:close/>
                      </a:path>
                      <a:path w="252355" h="715833" stroke="0" extrusionOk="0">
                        <a:moveTo>
                          <a:pt x="0" y="126178"/>
                        </a:moveTo>
                        <a:cubicBezTo>
                          <a:pt x="50869" y="91841"/>
                          <a:pt x="113208" y="30290"/>
                          <a:pt x="126178" y="0"/>
                        </a:cubicBezTo>
                        <a:cubicBezTo>
                          <a:pt x="182198" y="50057"/>
                          <a:pt x="238263" y="113203"/>
                          <a:pt x="252355" y="126178"/>
                        </a:cubicBezTo>
                        <a:cubicBezTo>
                          <a:pt x="232176" y="128460"/>
                          <a:pt x="214004" y="129949"/>
                          <a:pt x="189266" y="126178"/>
                        </a:cubicBezTo>
                        <a:cubicBezTo>
                          <a:pt x="219699" y="178330"/>
                          <a:pt x="155041" y="463415"/>
                          <a:pt x="189266" y="589656"/>
                        </a:cubicBezTo>
                        <a:cubicBezTo>
                          <a:pt x="216256" y="587662"/>
                          <a:pt x="220871" y="591281"/>
                          <a:pt x="252355" y="589656"/>
                        </a:cubicBezTo>
                        <a:cubicBezTo>
                          <a:pt x="237115" y="619749"/>
                          <a:pt x="171365" y="658826"/>
                          <a:pt x="126178" y="715833"/>
                        </a:cubicBezTo>
                        <a:cubicBezTo>
                          <a:pt x="90864" y="675576"/>
                          <a:pt x="63594" y="640282"/>
                          <a:pt x="0" y="589656"/>
                        </a:cubicBezTo>
                        <a:cubicBezTo>
                          <a:pt x="30920" y="585758"/>
                          <a:pt x="49313" y="595302"/>
                          <a:pt x="63089" y="589656"/>
                        </a:cubicBezTo>
                        <a:cubicBezTo>
                          <a:pt x="35112" y="429300"/>
                          <a:pt x="101001" y="322874"/>
                          <a:pt x="63089" y="126178"/>
                        </a:cubicBezTo>
                        <a:cubicBezTo>
                          <a:pt x="50894" y="129667"/>
                          <a:pt x="21314" y="129575"/>
                          <a:pt x="0" y="126178"/>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CAC7FA3-D97C-D8DB-4223-272FFB670D4D}"/>
              </a:ext>
            </a:extLst>
          </p:cNvPr>
          <p:cNvSpPr/>
          <p:nvPr/>
        </p:nvSpPr>
        <p:spPr>
          <a:xfrm>
            <a:off x="4680690" y="3745167"/>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24BB28-797A-51C9-579D-EA22089DB2C0}"/>
              </a:ext>
            </a:extLst>
          </p:cNvPr>
          <p:cNvSpPr/>
          <p:nvPr/>
        </p:nvSpPr>
        <p:spPr>
          <a:xfrm>
            <a:off x="4666896" y="2648130"/>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82D53D6-8FA8-51AF-DAF9-03A6342F5314}"/>
              </a:ext>
            </a:extLst>
          </p:cNvPr>
          <p:cNvSpPr/>
          <p:nvPr/>
        </p:nvSpPr>
        <p:spPr>
          <a:xfrm>
            <a:off x="4680690" y="1555579"/>
            <a:ext cx="1504245" cy="787019"/>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5BE23A-20FF-B1E4-883C-21B791889E97}"/>
              </a:ext>
            </a:extLst>
          </p:cNvPr>
          <p:cNvSpPr txBox="1"/>
          <p:nvPr/>
        </p:nvSpPr>
        <p:spPr>
          <a:xfrm>
            <a:off x="117565" y="14022"/>
            <a:ext cx="10001955"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Bottom DO from Surface Measurements</a:t>
            </a:r>
          </a:p>
        </p:txBody>
      </p:sp>
      <p:sp>
        <p:nvSpPr>
          <p:cNvPr id="5" name="Rectangle 4">
            <a:extLst>
              <a:ext uri="{FF2B5EF4-FFF2-40B4-BE49-F238E27FC236}">
                <a16:creationId xmlns:a16="http://schemas.microsoft.com/office/drawing/2014/main" id="{2A9DF35A-4ACE-CEF0-D9C8-F964D3A5B036}"/>
              </a:ext>
            </a:extLst>
          </p:cNvPr>
          <p:cNvSpPr/>
          <p:nvPr/>
        </p:nvSpPr>
        <p:spPr>
          <a:xfrm>
            <a:off x="4680692" y="475390"/>
            <a:ext cx="1504245" cy="787019"/>
          </a:xfrm>
          <a:prstGeom prst="rect">
            <a:avLst/>
          </a:prstGeom>
          <a:solidFill>
            <a:schemeClr val="accent1">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7E93BC8-85B2-97B2-5194-E83ED1E99A41}"/>
              </a:ext>
            </a:extLst>
          </p:cNvPr>
          <p:cNvSpPr txBox="1"/>
          <p:nvPr/>
        </p:nvSpPr>
        <p:spPr>
          <a:xfrm>
            <a:off x="4637649" y="672423"/>
            <a:ext cx="160584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Measurement</a:t>
            </a:r>
          </a:p>
        </p:txBody>
      </p:sp>
      <p:sp>
        <p:nvSpPr>
          <p:cNvPr id="7" name="TextBox 6">
            <a:extLst>
              <a:ext uri="{FF2B5EF4-FFF2-40B4-BE49-F238E27FC236}">
                <a16:creationId xmlns:a16="http://schemas.microsoft.com/office/drawing/2014/main" id="{A17C388F-25EA-C27E-2E4A-BFAF258F94D5}"/>
              </a:ext>
            </a:extLst>
          </p:cNvPr>
          <p:cNvSpPr txBox="1"/>
          <p:nvPr/>
        </p:nvSpPr>
        <p:spPr>
          <a:xfrm>
            <a:off x="4847652" y="1619010"/>
            <a:ext cx="115005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Retrieval</a:t>
            </a:r>
          </a:p>
        </p:txBody>
      </p:sp>
      <p:pic>
        <p:nvPicPr>
          <p:cNvPr id="10" name="Picture 9" descr="A logo with a yellow circle and white text&#10;&#10;AI-generated content may be incorrect.">
            <a:extLst>
              <a:ext uri="{FF2B5EF4-FFF2-40B4-BE49-F238E27FC236}">
                <a16:creationId xmlns:a16="http://schemas.microsoft.com/office/drawing/2014/main" id="{73AD6C96-15CE-0D36-A1F6-11FAC8864B73}"/>
              </a:ext>
            </a:extLst>
          </p:cNvPr>
          <p:cNvPicPr>
            <a:picLocks noChangeAspect="1"/>
          </p:cNvPicPr>
          <p:nvPr/>
        </p:nvPicPr>
        <p:blipFill>
          <a:blip r:embed="rId3"/>
          <a:stretch>
            <a:fillRect/>
          </a:stretch>
        </p:blipFill>
        <p:spPr>
          <a:xfrm>
            <a:off x="2278547" y="847075"/>
            <a:ext cx="1682045" cy="627357"/>
          </a:xfrm>
          <a:prstGeom prst="rect">
            <a:avLst/>
          </a:prstGeom>
        </p:spPr>
      </p:pic>
      <p:sp>
        <p:nvSpPr>
          <p:cNvPr id="17" name="TextBox 16">
            <a:extLst>
              <a:ext uri="{FF2B5EF4-FFF2-40B4-BE49-F238E27FC236}">
                <a16:creationId xmlns:a16="http://schemas.microsoft.com/office/drawing/2014/main" id="{0C0555F5-5871-79DB-0B1C-BBEF7B27AF12}"/>
              </a:ext>
            </a:extLst>
          </p:cNvPr>
          <p:cNvSpPr txBox="1"/>
          <p:nvPr/>
        </p:nvSpPr>
        <p:spPr>
          <a:xfrm>
            <a:off x="4758687" y="2719800"/>
            <a:ext cx="1343378"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Cleaning</a:t>
            </a:r>
          </a:p>
        </p:txBody>
      </p:sp>
      <p:sp>
        <p:nvSpPr>
          <p:cNvPr id="18" name="TextBox 17">
            <a:extLst>
              <a:ext uri="{FF2B5EF4-FFF2-40B4-BE49-F238E27FC236}">
                <a16:creationId xmlns:a16="http://schemas.microsoft.com/office/drawing/2014/main" id="{17917A1D-CC5C-FC86-02F7-32C27FB11078}"/>
              </a:ext>
            </a:extLst>
          </p:cNvPr>
          <p:cNvSpPr txBox="1"/>
          <p:nvPr/>
        </p:nvSpPr>
        <p:spPr>
          <a:xfrm>
            <a:off x="4531111" y="3815510"/>
            <a:ext cx="1907822" cy="646331"/>
          </a:xfrm>
          <a:prstGeom prst="rect">
            <a:avLst/>
          </a:prstGeom>
          <a:noFill/>
        </p:spPr>
        <p:txBody>
          <a:bodyPr wrap="square" rtlCol="0">
            <a:spAutoFit/>
          </a:bodyPr>
          <a:lstStyle/>
          <a:p>
            <a:pPr algn="ctr"/>
            <a:r>
              <a:rPr lang="en-US" dirty="0"/>
              <a:t>Data Reconstruction</a:t>
            </a:r>
          </a:p>
        </p:txBody>
      </p:sp>
      <p:sp>
        <p:nvSpPr>
          <p:cNvPr id="23" name="Rectangle 22">
            <a:extLst>
              <a:ext uri="{FF2B5EF4-FFF2-40B4-BE49-F238E27FC236}">
                <a16:creationId xmlns:a16="http://schemas.microsoft.com/office/drawing/2014/main" id="{BFC8B01F-12D1-73BD-9FA2-194C84599E98}"/>
              </a:ext>
            </a:extLst>
          </p:cNvPr>
          <p:cNvSpPr/>
          <p:nvPr/>
        </p:nvSpPr>
        <p:spPr>
          <a:xfrm>
            <a:off x="4666896" y="4906379"/>
            <a:ext cx="1608664" cy="787019"/>
          </a:xfrm>
          <a:prstGeom prst="rect">
            <a:avLst/>
          </a:prstGeom>
          <a:solidFill>
            <a:schemeClr val="bg2">
              <a:lumMod val="75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83FF19D-EAF2-D9AE-88D5-B4AAC3ECAB26}"/>
              </a:ext>
            </a:extLst>
          </p:cNvPr>
          <p:cNvSpPr txBox="1"/>
          <p:nvPr/>
        </p:nvSpPr>
        <p:spPr>
          <a:xfrm>
            <a:off x="4505520" y="5002920"/>
            <a:ext cx="1907822" cy="646331"/>
          </a:xfrm>
          <a:prstGeom prst="rect">
            <a:avLst/>
          </a:prstGeom>
          <a:noFill/>
        </p:spPr>
        <p:txBody>
          <a:bodyPr wrap="square" rtlCol="0">
            <a:spAutoFit/>
          </a:bodyPr>
          <a:lstStyle/>
          <a:p>
            <a:pPr algn="ctr"/>
            <a:r>
              <a:rPr lang="en-US" dirty="0"/>
              <a:t>Modeling/</a:t>
            </a:r>
          </a:p>
          <a:p>
            <a:pPr algn="ctr"/>
            <a:r>
              <a:rPr lang="en-US" dirty="0"/>
              <a:t>Validation</a:t>
            </a:r>
          </a:p>
        </p:txBody>
      </p:sp>
      <p:sp>
        <p:nvSpPr>
          <p:cNvPr id="26" name="TextBox 25">
            <a:extLst>
              <a:ext uri="{FF2B5EF4-FFF2-40B4-BE49-F238E27FC236}">
                <a16:creationId xmlns:a16="http://schemas.microsoft.com/office/drawing/2014/main" id="{1D676AE0-2C7F-D2B4-39CF-A70D9FC87BE6}"/>
              </a:ext>
            </a:extLst>
          </p:cNvPr>
          <p:cNvSpPr txBox="1"/>
          <p:nvPr/>
        </p:nvSpPr>
        <p:spPr>
          <a:xfrm>
            <a:off x="2278547" y="1558548"/>
            <a:ext cx="1646845" cy="461665"/>
          </a:xfrm>
          <a:prstGeom prst="rect">
            <a:avLst/>
          </a:prstGeom>
          <a:noFill/>
        </p:spPr>
        <p:txBody>
          <a:bodyPr wrap="square">
            <a:spAutoFit/>
          </a:bodyPr>
          <a:lstStyle/>
          <a:p>
            <a:pPr algn="ctr"/>
            <a:r>
              <a:rPr lang="en-US" sz="1200" dirty="0">
                <a:solidFill>
                  <a:srgbClr val="1F1F1F"/>
                </a:solidFill>
                <a:latin typeface="Arial" panose="020B0604020202020204" pitchFamily="34" charset="0"/>
                <a:cs typeface="Arial" panose="020B0604020202020204" pitchFamily="34" charset="0"/>
              </a:rPr>
              <a:t>Variables, </a:t>
            </a:r>
          </a:p>
          <a:p>
            <a:pPr algn="ctr"/>
            <a:r>
              <a:rPr lang="en-US" sz="1200" dirty="0">
                <a:solidFill>
                  <a:srgbClr val="1F1F1F"/>
                </a:solidFill>
                <a:latin typeface="Arial" panose="020B0604020202020204" pitchFamily="34" charset="0"/>
                <a:cs typeface="Arial" panose="020B0604020202020204" pitchFamily="34" charset="0"/>
              </a:rPr>
              <a:t>Date Range, …</a:t>
            </a:r>
            <a:endParaRPr lang="en-US" sz="1200" b="0" i="0" u="none" strike="noStrike" dirty="0">
              <a:solidFill>
                <a:srgbClr val="1F1F1F"/>
              </a:solidFill>
              <a:effectLst/>
              <a:latin typeface="Arial" panose="020B0604020202020204" pitchFamily="34" charset="0"/>
              <a:cs typeface="Arial" panose="020B0604020202020204" pitchFamily="34" charset="0"/>
            </a:endParaRPr>
          </a:p>
        </p:txBody>
      </p:sp>
      <p:pic>
        <p:nvPicPr>
          <p:cNvPr id="28" name="Picture 27" descr="A table with black text&#10;&#10;AI-generated content may be incorrect.">
            <a:extLst>
              <a:ext uri="{FF2B5EF4-FFF2-40B4-BE49-F238E27FC236}">
                <a16:creationId xmlns:a16="http://schemas.microsoft.com/office/drawing/2014/main" id="{5D9D7A5A-8800-8062-042E-7D69320992DD}"/>
              </a:ext>
            </a:extLst>
          </p:cNvPr>
          <p:cNvPicPr>
            <a:picLocks noChangeAspect="1"/>
          </p:cNvPicPr>
          <p:nvPr/>
        </p:nvPicPr>
        <p:blipFill>
          <a:blip r:embed="rId4"/>
          <a:stretch>
            <a:fillRect/>
          </a:stretch>
        </p:blipFill>
        <p:spPr>
          <a:xfrm>
            <a:off x="220209" y="823736"/>
            <a:ext cx="1968845" cy="2333728"/>
          </a:xfrm>
          <a:prstGeom prst="rect">
            <a:avLst/>
          </a:prstGeom>
        </p:spPr>
      </p:pic>
      <p:pic>
        <p:nvPicPr>
          <p:cNvPr id="30" name="Picture 29" descr="A screenshot of a graph&#10;&#10;AI-generated content may be incorrect.">
            <a:extLst>
              <a:ext uri="{FF2B5EF4-FFF2-40B4-BE49-F238E27FC236}">
                <a16:creationId xmlns:a16="http://schemas.microsoft.com/office/drawing/2014/main" id="{1086384F-9562-B650-3F59-27EDB643B306}"/>
              </a:ext>
            </a:extLst>
          </p:cNvPr>
          <p:cNvPicPr>
            <a:picLocks noChangeAspect="1"/>
          </p:cNvPicPr>
          <p:nvPr/>
        </p:nvPicPr>
        <p:blipFill>
          <a:blip r:embed="rId5"/>
          <a:stretch>
            <a:fillRect/>
          </a:stretch>
        </p:blipFill>
        <p:spPr>
          <a:xfrm>
            <a:off x="391368" y="4368581"/>
            <a:ext cx="3695004" cy="1627018"/>
          </a:xfrm>
          <a:prstGeom prst="rect">
            <a:avLst/>
          </a:prstGeom>
        </p:spPr>
      </p:pic>
      <p:sp>
        <p:nvSpPr>
          <p:cNvPr id="31" name="Rectangle 30">
            <a:extLst>
              <a:ext uri="{FF2B5EF4-FFF2-40B4-BE49-F238E27FC236}">
                <a16:creationId xmlns:a16="http://schemas.microsoft.com/office/drawing/2014/main" id="{FA1B5AE4-DE46-90C0-0DE5-46DEE4438F54}"/>
              </a:ext>
            </a:extLst>
          </p:cNvPr>
          <p:cNvSpPr/>
          <p:nvPr/>
        </p:nvSpPr>
        <p:spPr>
          <a:xfrm>
            <a:off x="4642451" y="6031880"/>
            <a:ext cx="1608664" cy="585108"/>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D1BA485-E003-7203-8E2E-3B78DB60DEB8}"/>
              </a:ext>
            </a:extLst>
          </p:cNvPr>
          <p:cNvSpPr txBox="1"/>
          <p:nvPr/>
        </p:nvSpPr>
        <p:spPr>
          <a:xfrm>
            <a:off x="4477953" y="6116983"/>
            <a:ext cx="1907822" cy="369332"/>
          </a:xfrm>
          <a:prstGeom prst="rect">
            <a:avLst/>
          </a:prstGeom>
          <a:noFill/>
        </p:spPr>
        <p:txBody>
          <a:bodyPr wrap="square" rtlCol="0">
            <a:spAutoFit/>
          </a:bodyPr>
          <a:lstStyle/>
          <a:p>
            <a:pPr algn="ctr"/>
            <a:r>
              <a:rPr lang="en-US" dirty="0"/>
              <a:t>Discussion</a:t>
            </a:r>
          </a:p>
        </p:txBody>
      </p:sp>
      <p:sp>
        <p:nvSpPr>
          <p:cNvPr id="34" name="TextBox 33">
            <a:extLst>
              <a:ext uri="{FF2B5EF4-FFF2-40B4-BE49-F238E27FC236}">
                <a16:creationId xmlns:a16="http://schemas.microsoft.com/office/drawing/2014/main" id="{939A6A7A-3BC3-4A33-43D6-342A91747E9B}"/>
              </a:ext>
            </a:extLst>
          </p:cNvPr>
          <p:cNvSpPr txBox="1"/>
          <p:nvPr/>
        </p:nvSpPr>
        <p:spPr>
          <a:xfrm>
            <a:off x="1995368" y="2415402"/>
            <a:ext cx="2395624" cy="646331"/>
          </a:xfrm>
          <a:prstGeom prst="rect">
            <a:avLst/>
          </a:prstGeom>
          <a:noFill/>
        </p:spPr>
        <p:txBody>
          <a:bodyPr wrap="square">
            <a:spAutoFit/>
          </a:bodyPr>
          <a:lstStyle/>
          <a:p>
            <a:pPr algn="ctr"/>
            <a:r>
              <a:rPr lang="en-US" sz="1200" b="0" i="0" u="none" strike="noStrike" dirty="0">
                <a:solidFill>
                  <a:srgbClr val="1F1F1F"/>
                </a:solidFill>
                <a:effectLst/>
                <a:latin typeface="Arial" panose="020B0604020202020204" pitchFamily="34" charset="0"/>
                <a:cs typeface="Arial" panose="020B0604020202020204" pitchFamily="34" charset="0"/>
              </a:rPr>
              <a:t>Total number of rows: 61053, columns 29, </a:t>
            </a:r>
          </a:p>
          <a:p>
            <a:pPr algn="ctr"/>
            <a:r>
              <a:rPr lang="en-US" sz="1200" b="0" i="0" u="none" strike="noStrike" dirty="0">
                <a:solidFill>
                  <a:srgbClr val="1F1F1F"/>
                </a:solidFill>
                <a:effectLst/>
                <a:latin typeface="Arial" panose="020B0604020202020204" pitchFamily="34" charset="0"/>
                <a:cs typeface="Arial" panose="020B0604020202020204" pitchFamily="34" charset="0"/>
              </a:rPr>
              <a:t>Number of days 813 …</a:t>
            </a:r>
            <a:endParaRPr lang="en-US" sz="12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BCB37CAE-5F98-F0A5-A942-C710EEA8B162}"/>
              </a:ext>
            </a:extLst>
          </p:cNvPr>
          <p:cNvSpPr txBox="1"/>
          <p:nvPr/>
        </p:nvSpPr>
        <p:spPr>
          <a:xfrm>
            <a:off x="1274596" y="3948688"/>
            <a:ext cx="1835534" cy="276999"/>
          </a:xfrm>
          <a:prstGeom prst="rect">
            <a:avLst/>
          </a:prstGeom>
          <a:noFill/>
        </p:spPr>
        <p:txBody>
          <a:bodyPr wrap="square">
            <a:spAutoFit/>
          </a:bodyPr>
          <a:lstStyle/>
          <a:p>
            <a:r>
              <a:rPr lang="en-US" sz="1200" b="0" i="0" u="none" strike="noStrike" dirty="0">
                <a:solidFill>
                  <a:srgbClr val="1F1F1F"/>
                </a:solidFill>
                <a:effectLst/>
                <a:latin typeface="Arial" panose="020B0604020202020204" pitchFamily="34" charset="0"/>
                <a:cs typeface="Arial" panose="020B0604020202020204" pitchFamily="34" charset="0"/>
              </a:rPr>
              <a:t>Rows: 736, Columns 8</a:t>
            </a:r>
            <a:endParaRPr lang="en-US" sz="1200" dirty="0">
              <a:latin typeface="Arial" panose="020B0604020202020204" pitchFamily="34" charset="0"/>
              <a:cs typeface="Arial" panose="020B0604020202020204" pitchFamily="34" charset="0"/>
            </a:endParaRPr>
          </a:p>
        </p:txBody>
      </p:sp>
      <p:sp>
        <p:nvSpPr>
          <p:cNvPr id="39" name="Down Arrow 38">
            <a:extLst>
              <a:ext uri="{FF2B5EF4-FFF2-40B4-BE49-F238E27FC236}">
                <a16:creationId xmlns:a16="http://schemas.microsoft.com/office/drawing/2014/main" id="{187D776C-D97D-2EA9-8217-532A91CBB73E}"/>
              </a:ext>
            </a:extLst>
          </p:cNvPr>
          <p:cNvSpPr/>
          <p:nvPr/>
        </p:nvSpPr>
        <p:spPr>
          <a:xfrm>
            <a:off x="5323134" y="127307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a:extLst>
              <a:ext uri="{FF2B5EF4-FFF2-40B4-BE49-F238E27FC236}">
                <a16:creationId xmlns:a16="http://schemas.microsoft.com/office/drawing/2014/main" id="{77CE758B-23EE-28E1-4087-547208180B45}"/>
              </a:ext>
            </a:extLst>
          </p:cNvPr>
          <p:cNvSpPr/>
          <p:nvPr/>
        </p:nvSpPr>
        <p:spPr>
          <a:xfrm>
            <a:off x="5325567" y="2365629"/>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a:extLst>
              <a:ext uri="{FF2B5EF4-FFF2-40B4-BE49-F238E27FC236}">
                <a16:creationId xmlns:a16="http://schemas.microsoft.com/office/drawing/2014/main" id="{2F33C126-8E4C-381B-E54D-A5C3A6947176}"/>
              </a:ext>
            </a:extLst>
          </p:cNvPr>
          <p:cNvSpPr/>
          <p:nvPr/>
        </p:nvSpPr>
        <p:spPr>
          <a:xfrm>
            <a:off x="5323915" y="3463066"/>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a:extLst>
              <a:ext uri="{FF2B5EF4-FFF2-40B4-BE49-F238E27FC236}">
                <a16:creationId xmlns:a16="http://schemas.microsoft.com/office/drawing/2014/main" id="{68D74382-36D6-9F6D-CA4A-597166834F3F}"/>
              </a:ext>
            </a:extLst>
          </p:cNvPr>
          <p:cNvSpPr/>
          <p:nvPr/>
        </p:nvSpPr>
        <p:spPr>
          <a:xfrm>
            <a:off x="5323132" y="4566574"/>
            <a:ext cx="214489" cy="313852"/>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wn Arrow 42">
            <a:extLst>
              <a:ext uri="{FF2B5EF4-FFF2-40B4-BE49-F238E27FC236}">
                <a16:creationId xmlns:a16="http://schemas.microsoft.com/office/drawing/2014/main" id="{DC2540EB-F074-1E1D-1398-12277A1D76C7}"/>
              </a:ext>
            </a:extLst>
          </p:cNvPr>
          <p:cNvSpPr/>
          <p:nvPr/>
        </p:nvSpPr>
        <p:spPr>
          <a:xfrm>
            <a:off x="5323133" y="572990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Picture 46" descr="A diagram of a company structure&#10;&#10;AI-generated content may be incorrect.">
            <a:extLst>
              <a:ext uri="{FF2B5EF4-FFF2-40B4-BE49-F238E27FC236}">
                <a16:creationId xmlns:a16="http://schemas.microsoft.com/office/drawing/2014/main" id="{0AAF448E-C398-E4F9-0BE9-4BF05D6494B0}"/>
              </a:ext>
            </a:extLst>
          </p:cNvPr>
          <p:cNvPicPr>
            <a:picLocks noChangeAspect="1"/>
          </p:cNvPicPr>
          <p:nvPr/>
        </p:nvPicPr>
        <p:blipFill>
          <a:blip r:embed="rId6"/>
          <a:stretch>
            <a:fillRect/>
          </a:stretch>
        </p:blipFill>
        <p:spPr>
          <a:xfrm>
            <a:off x="6857630" y="939438"/>
            <a:ext cx="3085453" cy="1503085"/>
          </a:xfrm>
          <a:prstGeom prst="rect">
            <a:avLst/>
          </a:prstGeom>
        </p:spPr>
      </p:pic>
      <p:pic>
        <p:nvPicPr>
          <p:cNvPr id="49" name="Picture 48" descr="A graph of a graph&#10;&#10;AI-generated content may be incorrect.">
            <a:extLst>
              <a:ext uri="{FF2B5EF4-FFF2-40B4-BE49-F238E27FC236}">
                <a16:creationId xmlns:a16="http://schemas.microsoft.com/office/drawing/2014/main" id="{EB289EEB-B86E-741D-341E-D95DD1D37C13}"/>
              </a:ext>
            </a:extLst>
          </p:cNvPr>
          <p:cNvPicPr>
            <a:picLocks noChangeAspect="1"/>
          </p:cNvPicPr>
          <p:nvPr/>
        </p:nvPicPr>
        <p:blipFill>
          <a:blip r:embed="rId7"/>
          <a:stretch>
            <a:fillRect/>
          </a:stretch>
        </p:blipFill>
        <p:spPr>
          <a:xfrm>
            <a:off x="6952916" y="2758978"/>
            <a:ext cx="2764043" cy="1408176"/>
          </a:xfrm>
          <a:prstGeom prst="rect">
            <a:avLst/>
          </a:prstGeom>
        </p:spPr>
      </p:pic>
      <p:pic>
        <p:nvPicPr>
          <p:cNvPr id="53" name="Picture 52" descr="A diagram of a network&#10;&#10;AI-generated content may be incorrect.">
            <a:extLst>
              <a:ext uri="{FF2B5EF4-FFF2-40B4-BE49-F238E27FC236}">
                <a16:creationId xmlns:a16="http://schemas.microsoft.com/office/drawing/2014/main" id="{17C6A5FE-9DBD-C6C4-A3A7-90897CE703E4}"/>
              </a:ext>
            </a:extLst>
          </p:cNvPr>
          <p:cNvPicPr>
            <a:picLocks noChangeAspect="1"/>
          </p:cNvPicPr>
          <p:nvPr/>
        </p:nvPicPr>
        <p:blipFill>
          <a:blip r:embed="rId8"/>
          <a:stretch>
            <a:fillRect/>
          </a:stretch>
        </p:blipFill>
        <p:spPr>
          <a:xfrm>
            <a:off x="9799465" y="947257"/>
            <a:ext cx="2277033" cy="1424124"/>
          </a:xfrm>
          <a:prstGeom prst="rect">
            <a:avLst/>
          </a:prstGeom>
        </p:spPr>
      </p:pic>
      <p:pic>
        <p:nvPicPr>
          <p:cNvPr id="59" name="Picture 58" descr="A graph showing different types of forest&#10;&#10;AI-generated content may be incorrect.">
            <a:extLst>
              <a:ext uri="{FF2B5EF4-FFF2-40B4-BE49-F238E27FC236}">
                <a16:creationId xmlns:a16="http://schemas.microsoft.com/office/drawing/2014/main" id="{367C832E-EA31-FBC6-0DF9-6B8545EEF5E5}"/>
              </a:ext>
            </a:extLst>
          </p:cNvPr>
          <p:cNvPicPr>
            <a:picLocks noChangeAspect="1"/>
          </p:cNvPicPr>
          <p:nvPr/>
        </p:nvPicPr>
        <p:blipFill>
          <a:blip r:embed="rId9"/>
          <a:stretch>
            <a:fillRect/>
          </a:stretch>
        </p:blipFill>
        <p:spPr>
          <a:xfrm>
            <a:off x="7161247" y="4183303"/>
            <a:ext cx="4610999" cy="2267558"/>
          </a:xfrm>
          <a:prstGeom prst="rect">
            <a:avLst/>
          </a:prstGeom>
        </p:spPr>
      </p:pic>
      <p:pic>
        <p:nvPicPr>
          <p:cNvPr id="62" name="Picture 61" descr="A graph with a red line&#10;&#10;AI-generated content may be incorrect.">
            <a:extLst>
              <a:ext uri="{FF2B5EF4-FFF2-40B4-BE49-F238E27FC236}">
                <a16:creationId xmlns:a16="http://schemas.microsoft.com/office/drawing/2014/main" id="{A2288373-DB2D-AAC0-1BE9-1604618A22D3}"/>
              </a:ext>
            </a:extLst>
          </p:cNvPr>
          <p:cNvPicPr>
            <a:picLocks noChangeAspect="1"/>
          </p:cNvPicPr>
          <p:nvPr/>
        </p:nvPicPr>
        <p:blipFill>
          <a:blip r:embed="rId10"/>
          <a:stretch>
            <a:fillRect/>
          </a:stretch>
        </p:blipFill>
        <p:spPr>
          <a:xfrm>
            <a:off x="9799465" y="2714440"/>
            <a:ext cx="2235877" cy="1394179"/>
          </a:xfrm>
          <a:prstGeom prst="rect">
            <a:avLst/>
          </a:prstGeom>
        </p:spPr>
      </p:pic>
      <p:sp>
        <p:nvSpPr>
          <p:cNvPr id="65" name="Rounded Rectangle 64">
            <a:extLst>
              <a:ext uri="{FF2B5EF4-FFF2-40B4-BE49-F238E27FC236}">
                <a16:creationId xmlns:a16="http://schemas.microsoft.com/office/drawing/2014/main" id="{6A7F4E39-6369-1164-BE14-4FEE6A7CEC01}"/>
              </a:ext>
            </a:extLst>
          </p:cNvPr>
          <p:cNvSpPr/>
          <p:nvPr/>
        </p:nvSpPr>
        <p:spPr>
          <a:xfrm>
            <a:off x="101919" y="603201"/>
            <a:ext cx="4217926" cy="2715418"/>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a:extLst>
              <a:ext uri="{FF2B5EF4-FFF2-40B4-BE49-F238E27FC236}">
                <a16:creationId xmlns:a16="http://schemas.microsoft.com/office/drawing/2014/main" id="{DBD8B1AC-0CEF-A025-1E8E-C4CCFCCD3E1F}"/>
              </a:ext>
            </a:extLst>
          </p:cNvPr>
          <p:cNvSpPr/>
          <p:nvPr/>
        </p:nvSpPr>
        <p:spPr>
          <a:xfrm>
            <a:off x="101919" y="3745167"/>
            <a:ext cx="4165938" cy="254061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14C368FB-48C9-56BB-370A-EC4220867F6F}"/>
              </a:ext>
            </a:extLst>
          </p:cNvPr>
          <p:cNvSpPr/>
          <p:nvPr/>
        </p:nvSpPr>
        <p:spPr>
          <a:xfrm>
            <a:off x="4465642" y="2469105"/>
            <a:ext cx="2184148" cy="222052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ounded Rectangle 74">
            <a:extLst>
              <a:ext uri="{FF2B5EF4-FFF2-40B4-BE49-F238E27FC236}">
                <a16:creationId xmlns:a16="http://schemas.microsoft.com/office/drawing/2014/main" id="{4601FC4A-ED97-C064-5C2B-CB05C00F68B6}"/>
              </a:ext>
            </a:extLst>
          </p:cNvPr>
          <p:cNvSpPr/>
          <p:nvPr/>
        </p:nvSpPr>
        <p:spPr>
          <a:xfrm>
            <a:off x="6848499" y="374099"/>
            <a:ext cx="5294195" cy="6343149"/>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FB7A85D5-06C1-BEE4-2C8B-C9F5DA73E9E8}"/>
              </a:ext>
            </a:extLst>
          </p:cNvPr>
          <p:cNvSpPr/>
          <p:nvPr/>
        </p:nvSpPr>
        <p:spPr>
          <a:xfrm>
            <a:off x="4496505" y="4813182"/>
            <a:ext cx="2153285" cy="193142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Curved Connector 78">
            <a:extLst>
              <a:ext uri="{FF2B5EF4-FFF2-40B4-BE49-F238E27FC236}">
                <a16:creationId xmlns:a16="http://schemas.microsoft.com/office/drawing/2014/main" id="{C5B6655B-7DC8-728B-CE2B-253DA40EFC5C}"/>
              </a:ext>
            </a:extLst>
          </p:cNvPr>
          <p:cNvCxnSpPr>
            <a:cxnSpLocks/>
          </p:cNvCxnSpPr>
          <p:nvPr/>
        </p:nvCxnSpPr>
        <p:spPr>
          <a:xfrm rot="10800000">
            <a:off x="4060704" y="1546858"/>
            <a:ext cx="679381" cy="471620"/>
          </a:xfrm>
          <a:prstGeom prst="curvedConnector3">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urved Connector 80">
            <a:extLst>
              <a:ext uri="{FF2B5EF4-FFF2-40B4-BE49-F238E27FC236}">
                <a16:creationId xmlns:a16="http://schemas.microsoft.com/office/drawing/2014/main" id="{425CF272-54BA-FC9B-F1C2-673AFB16C64F}"/>
              </a:ext>
            </a:extLst>
          </p:cNvPr>
          <p:cNvCxnSpPr>
            <a:cxnSpLocks/>
          </p:cNvCxnSpPr>
          <p:nvPr/>
        </p:nvCxnSpPr>
        <p:spPr>
          <a:xfrm rot="10800000" flipV="1">
            <a:off x="3713780" y="3498201"/>
            <a:ext cx="749332" cy="504501"/>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urved Connector 96">
            <a:extLst>
              <a:ext uri="{FF2B5EF4-FFF2-40B4-BE49-F238E27FC236}">
                <a16:creationId xmlns:a16="http://schemas.microsoft.com/office/drawing/2014/main" id="{70409243-D201-81FC-FD82-92BAE710547E}"/>
              </a:ext>
            </a:extLst>
          </p:cNvPr>
          <p:cNvCxnSpPr>
            <a:cxnSpLocks/>
          </p:cNvCxnSpPr>
          <p:nvPr/>
        </p:nvCxnSpPr>
        <p:spPr>
          <a:xfrm rot="5400000" flipH="1" flipV="1">
            <a:off x="6461837" y="4978035"/>
            <a:ext cx="877721" cy="464710"/>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3" name="Slide Number Placeholder 102">
            <a:extLst>
              <a:ext uri="{FF2B5EF4-FFF2-40B4-BE49-F238E27FC236}">
                <a16:creationId xmlns:a16="http://schemas.microsoft.com/office/drawing/2014/main" id="{622946C1-9666-D4BF-89E3-A61502A4B9B4}"/>
              </a:ext>
            </a:extLst>
          </p:cNvPr>
          <p:cNvSpPr>
            <a:spLocks noGrp="1"/>
          </p:cNvSpPr>
          <p:nvPr>
            <p:ph type="sldNum" sz="quarter" idx="12"/>
          </p:nvPr>
        </p:nvSpPr>
        <p:spPr/>
        <p:txBody>
          <a:bodyPr/>
          <a:lstStyle/>
          <a:p>
            <a:fld id="{83863B2D-D332-084B-BF65-F0D9A30319D9}" type="slidenum">
              <a:rPr lang="en-US" smtClean="0"/>
              <a:t>5</a:t>
            </a:fld>
            <a:endParaRPr lang="en-US"/>
          </a:p>
        </p:txBody>
      </p:sp>
    </p:spTree>
    <p:extLst>
      <p:ext uri="{BB962C8B-B14F-4D97-AF65-F5344CB8AC3E}">
        <p14:creationId xmlns:p14="http://schemas.microsoft.com/office/powerpoint/2010/main" val="1482806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8AC441-6699-D35B-0523-008D4482FA8C}"/>
              </a:ext>
            </a:extLst>
          </p:cNvPr>
          <p:cNvSpPr txBox="1"/>
          <p:nvPr/>
        </p:nvSpPr>
        <p:spPr>
          <a:xfrm>
            <a:off x="156385" y="102501"/>
            <a:ext cx="10001955"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Bottom DO from Surface Measurements</a:t>
            </a:r>
          </a:p>
        </p:txBody>
      </p:sp>
      <p:sp>
        <p:nvSpPr>
          <p:cNvPr id="6" name="TextBox 5">
            <a:extLst>
              <a:ext uri="{FF2B5EF4-FFF2-40B4-BE49-F238E27FC236}">
                <a16:creationId xmlns:a16="http://schemas.microsoft.com/office/drawing/2014/main" id="{D878C222-B3FD-78F5-EEE9-61EAA5EF5799}"/>
              </a:ext>
            </a:extLst>
          </p:cNvPr>
          <p:cNvSpPr txBox="1"/>
          <p:nvPr/>
        </p:nvSpPr>
        <p:spPr>
          <a:xfrm>
            <a:off x="156384" y="459564"/>
            <a:ext cx="12480116" cy="1754326"/>
          </a:xfrm>
          <a:prstGeom prst="rect">
            <a:avLst/>
          </a:prstGeom>
          <a:noFill/>
        </p:spPr>
        <p:txBody>
          <a:bodyPr wrap="square">
            <a:spAutoFit/>
          </a:bodyPr>
          <a:lstStyle/>
          <a:p>
            <a:pPr algn="l">
              <a:buNone/>
            </a:pPr>
            <a:r>
              <a:rPr lang="en-US" b="1" i="0" u="none" strike="noStrike" dirty="0">
                <a:solidFill>
                  <a:srgbClr val="000000"/>
                </a:solidFill>
                <a:effectLst/>
                <a:latin typeface="Arial" panose="020B0604020202020204" pitchFamily="34" charset="0"/>
                <a:cs typeface="Arial" panose="020B0604020202020204" pitchFamily="34" charset="0"/>
              </a:rPr>
              <a:t>What is Random Forest Regression (Machine Learning)?</a:t>
            </a:r>
          </a:p>
          <a:p>
            <a:pPr algn="l">
              <a:buNone/>
            </a:pPr>
            <a:r>
              <a:rPr lang="en-US" b="1" i="0" u="none" strike="noStrike" dirty="0">
                <a:solidFill>
                  <a:srgbClr val="000000"/>
                </a:solidFill>
                <a:effectLst/>
                <a:latin typeface="Arial" panose="020B0604020202020204" pitchFamily="34" charset="0"/>
                <a:cs typeface="Arial" panose="020B0604020202020204" pitchFamily="34" charset="0"/>
              </a:rPr>
              <a:t>Random Forest Regression</a:t>
            </a:r>
            <a:r>
              <a:rPr lang="en-US" b="0" i="0" u="none" strike="noStrike" dirty="0">
                <a:solidFill>
                  <a:srgbClr val="000000"/>
                </a:solidFill>
                <a:effectLst/>
                <a:latin typeface="Arial" panose="020B0604020202020204" pitchFamily="34" charset="0"/>
                <a:cs typeface="Arial" panose="020B0604020202020204" pitchFamily="34" charset="0"/>
              </a:rPr>
              <a:t> is an </a:t>
            </a:r>
            <a:r>
              <a:rPr lang="en-US" b="1" i="0" u="none" strike="noStrike" dirty="0">
                <a:solidFill>
                  <a:srgbClr val="000000"/>
                </a:solidFill>
                <a:effectLst/>
                <a:latin typeface="Arial" panose="020B0604020202020204" pitchFamily="34" charset="0"/>
                <a:cs typeface="Arial" panose="020B0604020202020204" pitchFamily="34" charset="0"/>
              </a:rPr>
              <a:t>ensemble learning method</a:t>
            </a:r>
            <a:r>
              <a:rPr lang="en-US" b="0" i="0" u="none" strike="noStrike" dirty="0">
                <a:solidFill>
                  <a:srgbClr val="000000"/>
                </a:solidFill>
                <a:effectLst/>
                <a:latin typeface="Arial" panose="020B0604020202020204" pitchFamily="34" charset="0"/>
                <a:cs typeface="Arial" panose="020B0604020202020204" pitchFamily="34" charset="0"/>
              </a:rPr>
              <a:t> that builds multiple decision trees and averages their predictions for </a:t>
            </a:r>
            <a:r>
              <a:rPr lang="en-US" b="1" i="0" u="none" strike="noStrike" dirty="0">
                <a:solidFill>
                  <a:srgbClr val="000000"/>
                </a:solidFill>
                <a:effectLst/>
                <a:latin typeface="Arial" panose="020B0604020202020204" pitchFamily="34" charset="0"/>
                <a:cs typeface="Arial" panose="020B0604020202020204" pitchFamily="34" charset="0"/>
              </a:rPr>
              <a:t>numerical (continuous) outputs</a:t>
            </a:r>
            <a:r>
              <a:rPr lang="en-US" b="0" i="0" u="none" strike="noStrike" dirty="0">
                <a:solidFill>
                  <a:srgbClr val="000000"/>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It belongs to </a:t>
            </a:r>
            <a:r>
              <a:rPr lang="en-US" b="1" i="0" u="none" strike="noStrike" dirty="0">
                <a:solidFill>
                  <a:srgbClr val="000000"/>
                </a:solidFill>
                <a:effectLst/>
                <a:latin typeface="Arial" panose="020B0604020202020204" pitchFamily="34" charset="0"/>
                <a:cs typeface="Arial" panose="020B0604020202020204" pitchFamily="34" charset="0"/>
              </a:rPr>
              <a:t>bagging methods</a:t>
            </a:r>
            <a:r>
              <a:rPr lang="en-US" b="0" i="0" u="none" strike="noStrike" dirty="0">
                <a:solidFill>
                  <a:srgbClr val="000000"/>
                </a:solidFill>
                <a:effectLst/>
                <a:latin typeface="Arial" panose="020B0604020202020204" pitchFamily="34" charset="0"/>
                <a:cs typeface="Arial" panose="020B0604020202020204" pitchFamily="34" charset="0"/>
              </a:rPr>
              <a:t> (Bootstrap Aggregation).</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Each tree sees only a </a:t>
            </a:r>
            <a:r>
              <a:rPr lang="en-US" b="1" i="0" u="none" strike="noStrike" dirty="0">
                <a:solidFill>
                  <a:srgbClr val="000000"/>
                </a:solidFill>
                <a:effectLst/>
                <a:latin typeface="Arial" panose="020B0604020202020204" pitchFamily="34" charset="0"/>
                <a:cs typeface="Arial" panose="020B0604020202020204" pitchFamily="34" charset="0"/>
              </a:rPr>
              <a:t>random subset of the data</a:t>
            </a:r>
            <a:r>
              <a:rPr lang="en-US" b="0" i="0" u="none" strike="noStrike" dirty="0">
                <a:solidFill>
                  <a:srgbClr val="000000"/>
                </a:solidFill>
                <a:effectLst/>
                <a:latin typeface="Arial" panose="020B0604020202020204" pitchFamily="34" charset="0"/>
                <a:cs typeface="Arial" panose="020B0604020202020204" pitchFamily="34" charset="0"/>
              </a:rPr>
              <a:t> and a </a:t>
            </a:r>
            <a:r>
              <a:rPr lang="en-US" b="1" i="0" u="none" strike="noStrike" dirty="0">
                <a:solidFill>
                  <a:srgbClr val="000000"/>
                </a:solidFill>
                <a:effectLst/>
                <a:latin typeface="Arial" panose="020B0604020202020204" pitchFamily="34" charset="0"/>
                <a:cs typeface="Arial" panose="020B0604020202020204" pitchFamily="34" charset="0"/>
              </a:rPr>
              <a:t>random subset of the features</a:t>
            </a:r>
            <a:r>
              <a:rPr lang="en-US" b="0" i="0" u="none" strike="noStrike" dirty="0">
                <a:solidFill>
                  <a:srgbClr val="000000"/>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Predictions from all trees are </a:t>
            </a:r>
            <a:r>
              <a:rPr lang="en-US" b="1" i="0" u="none" strike="noStrike" dirty="0">
                <a:solidFill>
                  <a:srgbClr val="000000"/>
                </a:solidFill>
                <a:effectLst/>
                <a:latin typeface="Arial" panose="020B0604020202020204" pitchFamily="34" charset="0"/>
                <a:cs typeface="Arial" panose="020B0604020202020204" pitchFamily="34" charset="0"/>
              </a:rPr>
              <a:t>averaged</a:t>
            </a:r>
            <a:r>
              <a:rPr lang="en-US" b="0" i="0" u="none" strike="noStrike" dirty="0">
                <a:solidFill>
                  <a:srgbClr val="000000"/>
                </a:solidFill>
                <a:effectLst/>
                <a:latin typeface="Arial" panose="020B0604020202020204" pitchFamily="34" charset="0"/>
                <a:cs typeface="Arial" panose="020B0604020202020204" pitchFamily="34" charset="0"/>
              </a:rPr>
              <a:t> (regression) or </a:t>
            </a:r>
            <a:r>
              <a:rPr lang="en-US" b="1" i="0" u="none" strike="noStrike" dirty="0">
                <a:solidFill>
                  <a:srgbClr val="000000"/>
                </a:solidFill>
                <a:effectLst/>
                <a:latin typeface="Arial" panose="020B0604020202020204" pitchFamily="34" charset="0"/>
                <a:cs typeface="Arial" panose="020B0604020202020204" pitchFamily="34" charset="0"/>
              </a:rPr>
              <a:t>voted</a:t>
            </a:r>
            <a:r>
              <a:rPr lang="en-US" b="0" i="0" u="none" strike="noStrike" dirty="0">
                <a:solidFill>
                  <a:srgbClr val="000000"/>
                </a:solidFill>
                <a:effectLst/>
                <a:latin typeface="Arial" panose="020B0604020202020204" pitchFamily="34" charset="0"/>
                <a:cs typeface="Arial" panose="020B0604020202020204" pitchFamily="34" charset="0"/>
              </a:rPr>
              <a:t> (classification).</a:t>
            </a:r>
          </a:p>
        </p:txBody>
      </p:sp>
      <p:sp>
        <p:nvSpPr>
          <p:cNvPr id="8" name="TextBox 7">
            <a:extLst>
              <a:ext uri="{FF2B5EF4-FFF2-40B4-BE49-F238E27FC236}">
                <a16:creationId xmlns:a16="http://schemas.microsoft.com/office/drawing/2014/main" id="{7CBAF0F7-D377-7DBF-1A5E-AFADA1508ECC}"/>
              </a:ext>
            </a:extLst>
          </p:cNvPr>
          <p:cNvSpPr txBox="1"/>
          <p:nvPr/>
        </p:nvSpPr>
        <p:spPr>
          <a:xfrm>
            <a:off x="156384" y="2333685"/>
            <a:ext cx="12175315" cy="4524315"/>
          </a:xfrm>
          <a:prstGeom prst="rect">
            <a:avLst/>
          </a:prstGeom>
          <a:noFill/>
        </p:spPr>
        <p:txBody>
          <a:bodyPr wrap="square">
            <a:spAutoFit/>
          </a:bodyPr>
          <a:lstStyle/>
          <a:p>
            <a:pPr algn="l">
              <a:buNone/>
            </a:pPr>
            <a:r>
              <a:rPr lang="en-US" b="0" i="0" u="none" strike="noStrike" dirty="0">
                <a:solidFill>
                  <a:srgbClr val="000000"/>
                </a:solidFill>
                <a:effectLst/>
                <a:latin typeface="Arial" panose="020B0604020202020204" pitchFamily="34" charset="0"/>
                <a:cs typeface="Arial" panose="020B0604020202020204" pitchFamily="34" charset="0"/>
              </a:rPr>
              <a:t>Let’s break it down step by step:</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Input</a:t>
            </a:r>
            <a:r>
              <a:rPr lang="en-US" b="0" i="0" u="none" strike="noStrike" dirty="0">
                <a:solidFill>
                  <a:srgbClr val="000000"/>
                </a:solidFill>
                <a:effectLst/>
                <a:latin typeface="Arial" panose="020B0604020202020204" pitchFamily="34" charset="0"/>
                <a:cs typeface="Arial" panose="020B0604020202020204" pitchFamily="34" charset="0"/>
              </a:rPr>
              <a:t>: A dataset of features X (e.g. surface measurements) and a continuous target y (e.g. dissolved oxygen). Split into training and testing datasets.</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Bootstrap Sampling</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Create multiple subsets of the training data </a:t>
            </a:r>
            <a:r>
              <a:rPr lang="en-US" b="1" i="0" u="none" strike="noStrike" dirty="0">
                <a:solidFill>
                  <a:srgbClr val="000000"/>
                </a:solidFill>
                <a:effectLst/>
                <a:latin typeface="Arial" panose="020B0604020202020204" pitchFamily="34" charset="0"/>
                <a:cs typeface="Arial" panose="020B0604020202020204" pitchFamily="34" charset="0"/>
              </a:rPr>
              <a:t>with replacement</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Each subset is used to train one decision tree.</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Feature Randomness</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At each split in a tree, only a </a:t>
            </a:r>
            <a:r>
              <a:rPr lang="en-US" b="1" i="0" u="none" strike="noStrike" dirty="0">
                <a:solidFill>
                  <a:srgbClr val="000000"/>
                </a:solidFill>
                <a:effectLst/>
                <a:latin typeface="Arial" panose="020B0604020202020204" pitchFamily="34" charset="0"/>
                <a:cs typeface="Arial" panose="020B0604020202020204" pitchFamily="34" charset="0"/>
              </a:rPr>
              <a:t>random subset of features</a:t>
            </a:r>
            <a:r>
              <a:rPr lang="en-US" b="0" i="0" u="none" strike="noStrike" dirty="0">
                <a:solidFill>
                  <a:srgbClr val="000000"/>
                </a:solidFill>
                <a:effectLst/>
                <a:latin typeface="Arial" panose="020B0604020202020204" pitchFamily="34" charset="0"/>
                <a:cs typeface="Arial" panose="020B0604020202020204" pitchFamily="34" charset="0"/>
              </a:rPr>
              <a:t> is considered.</a:t>
            </a:r>
            <a:endParaRPr lang="en-US" b="1" i="0" u="none" strike="noStrike" dirty="0">
              <a:solidFill>
                <a:srgbClr val="000000"/>
              </a:solidFill>
              <a:effectLst/>
              <a:latin typeface="Arial" panose="020B0604020202020204" pitchFamily="34" charset="0"/>
              <a:cs typeface="Arial" panose="020B0604020202020204" pitchFamily="34" charset="0"/>
            </a:endParaRP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Tree Construction</a:t>
            </a:r>
            <a:r>
              <a:rPr lang="en-US" b="0" i="0" u="none" strike="noStrike" dirty="0">
                <a:solidFill>
                  <a:srgbClr val="000000"/>
                </a:solidFill>
                <a:effectLst/>
                <a:latin typeface="Arial" panose="020B0604020202020204" pitchFamily="34" charset="0"/>
                <a:cs typeface="Arial" panose="020B0604020202020204" pitchFamily="34" charset="0"/>
              </a:rPr>
              <a:t>:</a:t>
            </a:r>
          </a:p>
          <a:p>
            <a:r>
              <a:rPr lang="en-US" b="0" i="0" u="none" strike="noStrike" dirty="0">
                <a:solidFill>
                  <a:srgbClr val="000000"/>
                </a:solidFill>
                <a:effectLst/>
                <a:latin typeface="Arial" panose="020B0604020202020204" pitchFamily="34" charset="0"/>
                <a:cs typeface="Arial" panose="020B0604020202020204" pitchFamily="34" charset="0"/>
              </a:rPr>
              <a:t>       1.  </a:t>
            </a:r>
            <a:r>
              <a:rPr lang="en-US" dirty="0">
                <a:solidFill>
                  <a:srgbClr val="000000"/>
                </a:solidFill>
                <a:latin typeface="Arial" panose="020B0604020202020204" pitchFamily="34" charset="0"/>
                <a:cs typeface="Arial" panose="020B0604020202020204" pitchFamily="34" charset="0"/>
              </a:rPr>
              <a:t>At every node in the tree: For each candidate split, calculate the </a:t>
            </a:r>
            <a:r>
              <a:rPr lang="en-US" b="1" dirty="0">
                <a:solidFill>
                  <a:srgbClr val="000000"/>
                </a:solidFill>
                <a:latin typeface="Arial" panose="020B0604020202020204" pitchFamily="34" charset="0"/>
                <a:cs typeface="Arial" panose="020B0604020202020204" pitchFamily="34" charset="0"/>
              </a:rPr>
              <a:t>Mean Squared Error (MSE) </a:t>
            </a:r>
            <a:r>
              <a:rPr lang="en-US" dirty="0">
                <a:solidFill>
                  <a:srgbClr val="000000"/>
                </a:solidFill>
                <a:latin typeface="Arial" panose="020B0604020202020204" pitchFamily="34" charset="0"/>
                <a:cs typeface="Arial" panose="020B0604020202020204" pitchFamily="34" charset="0"/>
              </a:rPr>
              <a:t>2.  Choose the feature and threshold that result in the </a:t>
            </a:r>
            <a:r>
              <a:rPr lang="en-US" b="1" dirty="0">
                <a:solidFill>
                  <a:srgbClr val="000000"/>
                </a:solidFill>
                <a:latin typeface="Arial" panose="020B0604020202020204" pitchFamily="34" charset="0"/>
                <a:cs typeface="Arial" panose="020B0604020202020204" pitchFamily="34" charset="0"/>
              </a:rPr>
              <a:t>lowest MSE. 3.  </a:t>
            </a:r>
            <a:r>
              <a:rPr lang="en-US" dirty="0">
                <a:solidFill>
                  <a:srgbClr val="000000"/>
                </a:solidFill>
                <a:latin typeface="Arial" panose="020B0604020202020204" pitchFamily="34" charset="0"/>
                <a:cs typeface="Arial" panose="020B0604020202020204" pitchFamily="34" charset="0"/>
              </a:rPr>
              <a:t>Split the node and repeat the process recursively.</a:t>
            </a:r>
          </a:p>
          <a:p>
            <a:r>
              <a:rPr lang="en-US" dirty="0">
                <a:solidFill>
                  <a:srgbClr val="000000"/>
                </a:solidFill>
                <a:latin typeface="Arial" panose="020B0604020202020204" pitchFamily="34" charset="0"/>
                <a:cs typeface="Arial" panose="020B0604020202020204" pitchFamily="34" charset="0"/>
              </a:rPr>
              <a:t>This is what builds the </a:t>
            </a:r>
            <a:r>
              <a:rPr lang="en-US" b="1" dirty="0">
                <a:solidFill>
                  <a:srgbClr val="000000"/>
                </a:solidFill>
                <a:latin typeface="Arial" panose="020B0604020202020204" pitchFamily="34" charset="0"/>
                <a:cs typeface="Arial" panose="020B0604020202020204" pitchFamily="34" charset="0"/>
              </a:rPr>
              <a:t>structure</a:t>
            </a:r>
            <a:r>
              <a:rPr lang="en-US" dirty="0">
                <a:solidFill>
                  <a:srgbClr val="000000"/>
                </a:solidFill>
                <a:latin typeface="Arial" panose="020B0604020202020204" pitchFamily="34" charset="0"/>
                <a:cs typeface="Arial" panose="020B0604020202020204" pitchFamily="34" charset="0"/>
              </a:rPr>
              <a:t> of each decision tree based on minimizing prediction error. </a:t>
            </a:r>
            <a:r>
              <a:rPr lang="en-US" b="0" i="0" u="none" strike="noStrike" dirty="0">
                <a:solidFill>
                  <a:srgbClr val="000000"/>
                </a:solidFill>
                <a:effectLst/>
                <a:latin typeface="Arial" panose="020B0604020202020204" pitchFamily="34" charset="0"/>
                <a:cs typeface="Arial" panose="020B0604020202020204" pitchFamily="34" charset="0"/>
              </a:rPr>
              <a:t>It learns a different view of the data due to randomness in data and features.</a:t>
            </a:r>
          </a:p>
          <a:p>
            <a:pPr algn="l"/>
            <a:r>
              <a:rPr lang="en-US" b="1" i="0" u="none" strike="noStrike" dirty="0">
                <a:solidFill>
                  <a:srgbClr val="000000"/>
                </a:solidFill>
                <a:effectLst/>
                <a:latin typeface="Arial" panose="020B0604020202020204" pitchFamily="34" charset="0"/>
                <a:cs typeface="Arial" panose="020B0604020202020204" pitchFamily="34" charset="0"/>
              </a:rPr>
              <a:t>5. Prediction</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For a new sample, each tree makes a prediction.</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The final prediction is the </a:t>
            </a:r>
            <a:r>
              <a:rPr lang="en-US" b="1" i="0" u="none" strike="noStrike" dirty="0">
                <a:solidFill>
                  <a:srgbClr val="000000"/>
                </a:solidFill>
                <a:effectLst/>
                <a:latin typeface="Arial" panose="020B0604020202020204" pitchFamily="34" charset="0"/>
                <a:cs typeface="Arial" panose="020B0604020202020204" pitchFamily="34" charset="0"/>
              </a:rPr>
              <a:t>average</a:t>
            </a:r>
            <a:r>
              <a:rPr lang="en-US" b="0" i="0" u="none" strike="noStrike" dirty="0">
                <a:solidFill>
                  <a:srgbClr val="000000"/>
                </a:solidFill>
                <a:effectLst/>
                <a:latin typeface="Arial" panose="020B0604020202020204" pitchFamily="34" charset="0"/>
                <a:cs typeface="Arial" panose="020B0604020202020204" pitchFamily="34" charset="0"/>
              </a:rPr>
              <a:t> of all tree predictions.</a:t>
            </a:r>
          </a:p>
        </p:txBody>
      </p:sp>
      <p:pic>
        <p:nvPicPr>
          <p:cNvPr id="9" name="Picture 8" descr="A diagram of a tree&#10;&#10;AI-generated content may be incorrect.">
            <a:extLst>
              <a:ext uri="{FF2B5EF4-FFF2-40B4-BE49-F238E27FC236}">
                <a16:creationId xmlns:a16="http://schemas.microsoft.com/office/drawing/2014/main" id="{63921104-1125-E63A-CF7D-1AE2A8B826C2}"/>
              </a:ext>
            </a:extLst>
          </p:cNvPr>
          <p:cNvPicPr>
            <a:picLocks noChangeAspect="1"/>
          </p:cNvPicPr>
          <p:nvPr/>
        </p:nvPicPr>
        <p:blipFill>
          <a:blip r:embed="rId2"/>
          <a:stretch>
            <a:fillRect/>
          </a:stretch>
        </p:blipFill>
        <p:spPr>
          <a:xfrm>
            <a:off x="8856991" y="2972250"/>
            <a:ext cx="2602698" cy="1790317"/>
          </a:xfrm>
          <a:prstGeom prst="rect">
            <a:avLst/>
          </a:prstGeom>
        </p:spPr>
      </p:pic>
      <p:sp>
        <p:nvSpPr>
          <p:cNvPr id="10" name="Slide Number Placeholder 9">
            <a:extLst>
              <a:ext uri="{FF2B5EF4-FFF2-40B4-BE49-F238E27FC236}">
                <a16:creationId xmlns:a16="http://schemas.microsoft.com/office/drawing/2014/main" id="{60B96BC1-E1C0-8E99-110F-65D31ED81398}"/>
              </a:ext>
            </a:extLst>
          </p:cNvPr>
          <p:cNvSpPr>
            <a:spLocks noGrp="1"/>
          </p:cNvSpPr>
          <p:nvPr>
            <p:ph type="sldNum" sz="quarter" idx="12"/>
          </p:nvPr>
        </p:nvSpPr>
        <p:spPr/>
        <p:txBody>
          <a:bodyPr/>
          <a:lstStyle/>
          <a:p>
            <a:fld id="{83863B2D-D332-084B-BF65-F0D9A30319D9}" type="slidenum">
              <a:rPr lang="en-US" smtClean="0"/>
              <a:t>6</a:t>
            </a:fld>
            <a:endParaRPr lang="en-US"/>
          </a:p>
        </p:txBody>
      </p:sp>
    </p:spTree>
    <p:extLst>
      <p:ext uri="{BB962C8B-B14F-4D97-AF65-F5344CB8AC3E}">
        <p14:creationId xmlns:p14="http://schemas.microsoft.com/office/powerpoint/2010/main" val="836552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C1D92-0384-5C56-EE49-9BBC5FF90BE7}"/>
              </a:ext>
            </a:extLst>
          </p:cNvPr>
          <p:cNvSpPr txBox="1"/>
          <p:nvPr/>
        </p:nvSpPr>
        <p:spPr>
          <a:xfrm>
            <a:off x="156385" y="102501"/>
            <a:ext cx="10001955"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Bottom DO from Surface Variables</a:t>
            </a:r>
          </a:p>
        </p:txBody>
      </p:sp>
      <p:sp>
        <p:nvSpPr>
          <p:cNvPr id="7" name="TextBox 6">
            <a:extLst>
              <a:ext uri="{FF2B5EF4-FFF2-40B4-BE49-F238E27FC236}">
                <a16:creationId xmlns:a16="http://schemas.microsoft.com/office/drawing/2014/main" id="{59539AE4-B01A-0828-EF3D-A2E1F5A75073}"/>
              </a:ext>
            </a:extLst>
          </p:cNvPr>
          <p:cNvSpPr txBox="1"/>
          <p:nvPr/>
        </p:nvSpPr>
        <p:spPr>
          <a:xfrm>
            <a:off x="78192" y="386177"/>
            <a:ext cx="12035615" cy="2031325"/>
          </a:xfrm>
          <a:prstGeom prst="rect">
            <a:avLst/>
          </a:prstGeom>
          <a:noFill/>
        </p:spPr>
        <p:txBody>
          <a:bodyPr wrap="square">
            <a:spAutoFit/>
          </a:bodyPr>
          <a:lstStyle/>
          <a:p>
            <a:r>
              <a:rPr lang="en-US" b="1" i="0" u="none" strike="noStrike" dirty="0">
                <a:solidFill>
                  <a:srgbClr val="000000"/>
                </a:solidFill>
                <a:effectLst/>
                <a:latin typeface="Arial" panose="020B0604020202020204" pitchFamily="34" charset="0"/>
                <a:cs typeface="Arial" panose="020B0604020202020204" pitchFamily="34" charset="0"/>
              </a:rPr>
              <a:t>What is </a:t>
            </a:r>
            <a:r>
              <a:rPr lang="en-US" b="1" dirty="0">
                <a:latin typeface="Arial" panose="020B0604020202020204" pitchFamily="34" charset="0"/>
                <a:cs typeface="Arial" panose="020B0604020202020204" pitchFamily="34" charset="0"/>
              </a:rPr>
              <a:t>Multilayer Perceptron (MLP)</a:t>
            </a:r>
            <a:r>
              <a:rPr lang="en-US" dirty="0">
                <a:latin typeface="Arial" panose="020B0604020202020204" pitchFamily="34" charset="0"/>
                <a:cs typeface="Arial" panose="020B0604020202020204" pitchFamily="34" charset="0"/>
              </a:rPr>
              <a:t> </a:t>
            </a:r>
            <a:r>
              <a:rPr lang="en-US" b="1" i="0" u="none" strike="noStrike" dirty="0">
                <a:solidFill>
                  <a:srgbClr val="000000"/>
                </a:solidFill>
                <a:effectLst/>
                <a:latin typeface="Arial" panose="020B0604020202020204" pitchFamily="34" charset="0"/>
                <a:cs typeface="Arial" panose="020B0604020202020204" pitchFamily="34" charset="0"/>
              </a:rPr>
              <a:t>?</a:t>
            </a:r>
          </a:p>
          <a:p>
            <a:pPr>
              <a:buNone/>
            </a:pPr>
            <a:r>
              <a:rPr lang="en-US" b="1" dirty="0">
                <a:latin typeface="Arial" panose="020B0604020202020204" pitchFamily="34" charset="0"/>
                <a:cs typeface="Arial" panose="020B0604020202020204" pitchFamily="34" charset="0"/>
              </a:rPr>
              <a:t>Multilayer Perceptron (MLP)</a:t>
            </a:r>
            <a:r>
              <a:rPr lang="en-US" dirty="0">
                <a:latin typeface="Arial" panose="020B0604020202020204" pitchFamily="34" charset="0"/>
                <a:cs typeface="Arial" panose="020B0604020202020204" pitchFamily="34" charset="0"/>
              </a:rPr>
              <a:t> is a type of </a:t>
            </a:r>
            <a:r>
              <a:rPr lang="en-US" b="1" dirty="0">
                <a:latin typeface="Arial" panose="020B0604020202020204" pitchFamily="34" charset="0"/>
                <a:cs typeface="Arial" panose="020B0604020202020204" pitchFamily="34" charset="0"/>
              </a:rPr>
              <a:t>neural network</a:t>
            </a:r>
            <a:r>
              <a:rPr lang="en-US" dirty="0">
                <a:latin typeface="Arial" panose="020B0604020202020204" pitchFamily="34" charset="0"/>
                <a:cs typeface="Arial" panose="020B0604020202020204" pitchFamily="34" charset="0"/>
              </a:rPr>
              <a:t> used for tasks like regression or classification. It’s made up of layers of connected neurons:</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Input layer</a:t>
            </a:r>
            <a:r>
              <a:rPr lang="en-US" dirty="0">
                <a:latin typeface="Arial" panose="020B0604020202020204" pitchFamily="34" charset="0"/>
                <a:cs typeface="Arial" panose="020B0604020202020204" pitchFamily="34" charset="0"/>
              </a:rPr>
              <a:t>: where the data comes in</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Hidden layer(s)</a:t>
            </a:r>
            <a:r>
              <a:rPr lang="en-US" dirty="0">
                <a:latin typeface="Arial" panose="020B0604020202020204" pitchFamily="34" charset="0"/>
                <a:cs typeface="Arial" panose="020B0604020202020204" pitchFamily="34" charset="0"/>
              </a:rPr>
              <a:t>: where most of the computation happens</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Output layer</a:t>
            </a:r>
            <a:r>
              <a:rPr lang="en-US" dirty="0">
                <a:latin typeface="Arial" panose="020B0604020202020204" pitchFamily="34" charset="0"/>
                <a:cs typeface="Arial" panose="020B0604020202020204" pitchFamily="34" charset="0"/>
              </a:rPr>
              <a:t>: where the prediction comes out</a:t>
            </a:r>
          </a:p>
          <a:p>
            <a:r>
              <a:rPr lang="en-US" dirty="0">
                <a:latin typeface="Arial" panose="020B0604020202020204" pitchFamily="34" charset="0"/>
                <a:cs typeface="Arial" panose="020B0604020202020204" pitchFamily="34" charset="0"/>
              </a:rPr>
              <a:t>Each neuron takes some inputs, does a weighted sum, applies an activation function, and passes the result forward.</a:t>
            </a:r>
          </a:p>
        </p:txBody>
      </p:sp>
      <p:sp>
        <p:nvSpPr>
          <p:cNvPr id="11" name="TextBox 10">
            <a:extLst>
              <a:ext uri="{FF2B5EF4-FFF2-40B4-BE49-F238E27FC236}">
                <a16:creationId xmlns:a16="http://schemas.microsoft.com/office/drawing/2014/main" id="{5548FCE8-66CA-9F40-095B-8DD6CF34BD73}"/>
              </a:ext>
            </a:extLst>
          </p:cNvPr>
          <p:cNvSpPr txBox="1"/>
          <p:nvPr/>
        </p:nvSpPr>
        <p:spPr>
          <a:xfrm>
            <a:off x="78192" y="2248504"/>
            <a:ext cx="11881286" cy="4801314"/>
          </a:xfrm>
          <a:prstGeom prst="rect">
            <a:avLst/>
          </a:prstGeom>
          <a:noFill/>
        </p:spPr>
        <p:txBody>
          <a:bodyPr wrap="square">
            <a:spAutoFit/>
          </a:bodyPr>
          <a:lstStyle/>
          <a:p>
            <a:pPr>
              <a:buNone/>
            </a:pPr>
            <a:r>
              <a:rPr lang="cy-GB" b="1" dirty="0">
                <a:latin typeface="Arial" panose="020B0604020202020204" pitchFamily="34" charset="0"/>
                <a:cs typeface="Arial" panose="020B0604020202020204" pitchFamily="34" charset="0"/>
              </a:rPr>
              <a:t>1: Initialize  </a:t>
            </a:r>
            <a:r>
              <a:rPr lang="cy-GB" dirty="0">
                <a:latin typeface="Arial" panose="020B0604020202020204" pitchFamily="34" charset="0"/>
                <a:cs typeface="Arial" panose="020B0604020202020204" pitchFamily="34" charset="0"/>
              </a:rPr>
              <a:t>Randomly initialize weights and biases for each layer.</a:t>
            </a:r>
          </a:p>
          <a:p>
            <a:pPr>
              <a:buNone/>
            </a:pPr>
            <a:r>
              <a:rPr lang="cy-GB" b="1" dirty="0">
                <a:latin typeface="Arial" panose="020B0604020202020204" pitchFamily="34" charset="0"/>
                <a:cs typeface="Arial" panose="020B0604020202020204" pitchFamily="34" charset="0"/>
              </a:rPr>
              <a:t>2. Forward Pass </a:t>
            </a:r>
          </a:p>
          <a:p>
            <a:pPr>
              <a:buNone/>
            </a:pPr>
            <a:r>
              <a:rPr lang="cy-GB" dirty="0">
                <a:latin typeface="Arial" panose="020B0604020202020204" pitchFamily="34" charset="0"/>
                <a:cs typeface="Arial" panose="020B0604020202020204" pitchFamily="34" charset="0"/>
              </a:rPr>
              <a:t>For each training sample:</a:t>
            </a:r>
          </a:p>
          <a:p>
            <a:pPr lvl="1">
              <a:buFont typeface="+mj-lt"/>
              <a:buAutoNum type="arabicPeriod"/>
            </a:pPr>
            <a:r>
              <a:rPr lang="cy-GB" dirty="0">
                <a:latin typeface="Arial" panose="020B0604020202020204" pitchFamily="34" charset="0"/>
                <a:cs typeface="Arial" panose="020B0604020202020204" pitchFamily="34" charset="0"/>
              </a:rPr>
              <a:t>Pass input through the input layer.</a:t>
            </a:r>
          </a:p>
          <a:p>
            <a:pPr lvl="1">
              <a:buFont typeface="+mj-lt"/>
              <a:buAutoNum type="arabicPeriod"/>
            </a:pPr>
            <a:r>
              <a:rPr lang="cy-GB" dirty="0">
                <a:latin typeface="Arial" panose="020B0604020202020204" pitchFamily="34" charset="0"/>
                <a:cs typeface="Arial" panose="020B0604020202020204" pitchFamily="34" charset="0"/>
              </a:rPr>
              <a:t>For each layer:</a:t>
            </a:r>
          </a:p>
          <a:p>
            <a:pPr marL="1200150" lvl="2" indent="-285750">
              <a:buFont typeface="+mj-lt"/>
              <a:buAutoNum type="arabicPeriod"/>
            </a:pPr>
            <a:r>
              <a:rPr lang="cy-GB" dirty="0">
                <a:latin typeface="Arial" panose="020B0604020202020204" pitchFamily="34" charset="0"/>
                <a:cs typeface="Arial" panose="020B0604020202020204" pitchFamily="34" charset="0"/>
              </a:rPr>
              <a:t>z = W·x + b (weighted sum)</a:t>
            </a:r>
          </a:p>
          <a:p>
            <a:pPr marL="1200150" lvl="2" indent="-285750">
              <a:buFont typeface="+mj-lt"/>
              <a:buAutoNum type="arabicPeriod"/>
            </a:pPr>
            <a:r>
              <a:rPr lang="cy-GB" dirty="0">
                <a:latin typeface="Arial" panose="020B0604020202020204" pitchFamily="34" charset="0"/>
                <a:cs typeface="Arial" panose="020B0604020202020204" pitchFamily="34" charset="0"/>
              </a:rPr>
              <a:t>a = activation(z) </a:t>
            </a:r>
          </a:p>
          <a:p>
            <a:pPr lvl="1">
              <a:buFont typeface="+mj-lt"/>
              <a:buAutoNum type="arabicPeriod"/>
            </a:pPr>
            <a:r>
              <a:rPr lang="cy-GB" dirty="0">
                <a:latin typeface="Arial" panose="020B0604020202020204" pitchFamily="34" charset="0"/>
                <a:cs typeface="Arial" panose="020B0604020202020204" pitchFamily="34" charset="0"/>
              </a:rPr>
              <a:t>Continue until you get the final output prediction ŷ.</a:t>
            </a:r>
          </a:p>
          <a:p>
            <a:pPr>
              <a:buNone/>
            </a:pPr>
            <a:r>
              <a:rPr lang="cy-GB" b="1" dirty="0">
                <a:latin typeface="Arial" panose="020B0604020202020204" pitchFamily="34" charset="0"/>
                <a:cs typeface="Arial" panose="020B0604020202020204" pitchFamily="34" charset="0"/>
              </a:rPr>
              <a:t>3. Compute Loss</a:t>
            </a:r>
          </a:p>
          <a:p>
            <a:r>
              <a:rPr lang="cy-GB" dirty="0">
                <a:latin typeface="Arial" panose="020B0604020202020204" pitchFamily="34" charset="0"/>
                <a:cs typeface="Arial" panose="020B0604020202020204" pitchFamily="34" charset="0"/>
              </a:rPr>
              <a:t>Compare the prediction ŷ to the true value y using a loss function (e.g., MSE for regression):</a:t>
            </a:r>
          </a:p>
          <a:p>
            <a:pPr>
              <a:buNone/>
            </a:pPr>
            <a:r>
              <a:rPr lang="cy-GB" b="1" dirty="0">
                <a:latin typeface="Arial" panose="020B0604020202020204" pitchFamily="34" charset="0"/>
                <a:cs typeface="Arial" panose="020B0604020202020204" pitchFamily="34" charset="0"/>
              </a:rPr>
              <a:t>4: Backward Pass (Backpropagation)</a:t>
            </a:r>
          </a:p>
          <a:p>
            <a:r>
              <a:rPr lang="cy-GB" dirty="0">
                <a:latin typeface="Arial" panose="020B0604020202020204" pitchFamily="34" charset="0"/>
                <a:cs typeface="Arial" panose="020B0604020202020204" pitchFamily="34" charset="0"/>
              </a:rPr>
              <a:t>Compute gradients of the loss with respect to all weights and biases.</a:t>
            </a:r>
          </a:p>
          <a:p>
            <a:r>
              <a:rPr lang="cy-GB" dirty="0">
                <a:latin typeface="Arial" panose="020B0604020202020204" pitchFamily="34" charset="0"/>
                <a:cs typeface="Arial" panose="020B0604020202020204" pitchFamily="34" charset="0"/>
              </a:rPr>
              <a:t>Use the chain rule to go layer by layer backward, adjusting the parameters.</a:t>
            </a:r>
          </a:p>
          <a:p>
            <a:r>
              <a:rPr lang="cy-GB" b="1" dirty="0">
                <a:latin typeface="Arial" panose="020B0604020202020204" pitchFamily="34" charset="0"/>
                <a:cs typeface="Arial" panose="020B0604020202020204" pitchFamily="34" charset="0"/>
              </a:rPr>
              <a:t>5. Update Weights</a:t>
            </a:r>
          </a:p>
          <a:p>
            <a:r>
              <a:rPr lang="cy-GB" dirty="0">
                <a:latin typeface="Arial" panose="020B0604020202020204" pitchFamily="34" charset="0"/>
                <a:cs typeface="Arial" panose="020B0604020202020204" pitchFamily="34" charset="0"/>
              </a:rPr>
              <a:t>Use an optimizer (gradient descent, Adam...) to update weights:</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where </a:t>
            </a:r>
            <a:r>
              <a:rPr lang="el-GR" dirty="0">
                <a:latin typeface="Arial" panose="020B0604020202020204" pitchFamily="34" charset="0"/>
                <a:cs typeface="Arial" panose="020B0604020202020204" pitchFamily="34" charset="0"/>
              </a:rPr>
              <a:t>η </a:t>
            </a:r>
            <a:r>
              <a:rPr lang="en-US" dirty="0">
                <a:latin typeface="Arial" panose="020B0604020202020204" pitchFamily="34" charset="0"/>
                <a:cs typeface="Arial" panose="020B0604020202020204" pitchFamily="34" charset="0"/>
              </a:rPr>
              <a:t>is the learning rate.</a:t>
            </a: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6. Repeat </a:t>
            </a:r>
            <a:r>
              <a:rPr lang="en-US" dirty="0">
                <a:latin typeface="Arial" panose="020B0604020202020204" pitchFamily="34" charset="0"/>
                <a:cs typeface="Arial" panose="020B0604020202020204" pitchFamily="34" charset="0"/>
              </a:rPr>
              <a:t>Loop over all training data for multiple epochs until loss is minimized.</a:t>
            </a:r>
          </a:p>
          <a:p>
            <a:endParaRPr lang="cy-GB" dirty="0"/>
          </a:p>
        </p:txBody>
      </p:sp>
      <p:pic>
        <p:nvPicPr>
          <p:cNvPr id="5" name="Picture 4" descr="A diagram of a network&#10;&#10;AI-generated content may be incorrect.">
            <a:extLst>
              <a:ext uri="{FF2B5EF4-FFF2-40B4-BE49-F238E27FC236}">
                <a16:creationId xmlns:a16="http://schemas.microsoft.com/office/drawing/2014/main" id="{1938216E-C5CA-9909-C0F7-13C90FDF6CF2}"/>
              </a:ext>
            </a:extLst>
          </p:cNvPr>
          <p:cNvPicPr>
            <a:picLocks noChangeAspect="1"/>
          </p:cNvPicPr>
          <p:nvPr/>
        </p:nvPicPr>
        <p:blipFill>
          <a:blip r:embed="rId3"/>
          <a:stretch>
            <a:fillRect/>
          </a:stretch>
        </p:blipFill>
        <p:spPr>
          <a:xfrm>
            <a:off x="8021256" y="2327064"/>
            <a:ext cx="3930731" cy="2458396"/>
          </a:xfrm>
          <a:prstGeom prst="rect">
            <a:avLst/>
          </a:prstGeom>
        </p:spPr>
      </p:pic>
      <p:pic>
        <p:nvPicPr>
          <p:cNvPr id="15" name="Picture 14" descr="A black and white math equation&#10;&#10;AI-generated content may be incorrect.">
            <a:extLst>
              <a:ext uri="{FF2B5EF4-FFF2-40B4-BE49-F238E27FC236}">
                <a16:creationId xmlns:a16="http://schemas.microsoft.com/office/drawing/2014/main" id="{42E8C0B0-2FD7-FE67-CC3E-A787E0B5B5D9}"/>
              </a:ext>
            </a:extLst>
          </p:cNvPr>
          <p:cNvPicPr>
            <a:picLocks noChangeAspect="1"/>
          </p:cNvPicPr>
          <p:nvPr/>
        </p:nvPicPr>
        <p:blipFill>
          <a:blip r:embed="rId4"/>
          <a:stretch>
            <a:fillRect/>
          </a:stretch>
        </p:blipFill>
        <p:spPr>
          <a:xfrm>
            <a:off x="6788550" y="5888864"/>
            <a:ext cx="1798042" cy="535372"/>
          </a:xfrm>
          <a:prstGeom prst="rect">
            <a:avLst/>
          </a:prstGeom>
        </p:spPr>
      </p:pic>
      <p:sp>
        <p:nvSpPr>
          <p:cNvPr id="16" name="Slide Number Placeholder 15">
            <a:extLst>
              <a:ext uri="{FF2B5EF4-FFF2-40B4-BE49-F238E27FC236}">
                <a16:creationId xmlns:a16="http://schemas.microsoft.com/office/drawing/2014/main" id="{A8262CA1-2550-577F-B36B-FD3BED1861AD}"/>
              </a:ext>
            </a:extLst>
          </p:cNvPr>
          <p:cNvSpPr>
            <a:spLocks noGrp="1"/>
          </p:cNvSpPr>
          <p:nvPr>
            <p:ph type="sldNum" sz="quarter" idx="12"/>
          </p:nvPr>
        </p:nvSpPr>
        <p:spPr/>
        <p:txBody>
          <a:bodyPr/>
          <a:lstStyle/>
          <a:p>
            <a:fld id="{83863B2D-D332-084B-BF65-F0D9A30319D9}" type="slidenum">
              <a:rPr lang="en-US" smtClean="0"/>
              <a:t>7</a:t>
            </a:fld>
            <a:endParaRPr lang="en-US"/>
          </a:p>
        </p:txBody>
      </p:sp>
    </p:spTree>
    <p:extLst>
      <p:ext uri="{BB962C8B-B14F-4D97-AF65-F5344CB8AC3E}">
        <p14:creationId xmlns:p14="http://schemas.microsoft.com/office/powerpoint/2010/main" val="108315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9B9EB0-AB9F-9DA3-24A5-96B895DC254B}"/>
              </a:ext>
            </a:extLst>
          </p:cNvPr>
          <p:cNvSpPr txBox="1"/>
          <p:nvPr/>
        </p:nvSpPr>
        <p:spPr>
          <a:xfrm>
            <a:off x="156385" y="102501"/>
            <a:ext cx="10001955"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Tutorial 1. Predict Bottom DO from Surface Variables</a:t>
            </a:r>
          </a:p>
        </p:txBody>
      </p:sp>
      <p:sp>
        <p:nvSpPr>
          <p:cNvPr id="6" name="TextBox 5">
            <a:extLst>
              <a:ext uri="{FF2B5EF4-FFF2-40B4-BE49-F238E27FC236}">
                <a16:creationId xmlns:a16="http://schemas.microsoft.com/office/drawing/2014/main" id="{9B01721E-B00C-E000-7A98-2A42BAB344D8}"/>
              </a:ext>
            </a:extLst>
          </p:cNvPr>
          <p:cNvSpPr txBox="1"/>
          <p:nvPr/>
        </p:nvSpPr>
        <p:spPr>
          <a:xfrm>
            <a:off x="264317" y="809923"/>
            <a:ext cx="11784723"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SHAP (</a:t>
            </a:r>
            <a:r>
              <a:rPr lang="en-US" b="1" dirty="0" err="1">
                <a:latin typeface="Arial" panose="020B0604020202020204" pitchFamily="34" charset="0"/>
                <a:cs typeface="Arial" panose="020B0604020202020204" pitchFamily="34" charset="0"/>
              </a:rPr>
              <a:t>SHapley</a:t>
            </a:r>
            <a:r>
              <a:rPr lang="en-US" b="1" dirty="0">
                <a:latin typeface="Arial" panose="020B0604020202020204" pitchFamily="34" charset="0"/>
                <a:cs typeface="Arial" panose="020B0604020202020204" pitchFamily="34" charset="0"/>
              </a:rPr>
              <a:t> Additive </a:t>
            </a:r>
            <a:r>
              <a:rPr lang="en-US" b="1" dirty="0" err="1">
                <a:latin typeface="Arial" panose="020B0604020202020204" pitchFamily="34" charset="0"/>
                <a:cs typeface="Arial" panose="020B0604020202020204" pitchFamily="34" charset="0"/>
              </a:rPr>
              <a:t>exPlanations</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explains </a:t>
            </a:r>
            <a:r>
              <a:rPr lang="en-US" b="1" dirty="0">
                <a:latin typeface="Arial" panose="020B0604020202020204" pitchFamily="34" charset="0"/>
                <a:cs typeface="Arial" panose="020B0604020202020204" pitchFamily="34" charset="0"/>
              </a:rPr>
              <a:t>how much each predictor contributed</a:t>
            </a:r>
            <a:r>
              <a:rPr lang="en-US" dirty="0">
                <a:latin typeface="Arial" panose="020B0604020202020204" pitchFamily="34" charset="0"/>
                <a:cs typeface="Arial" panose="020B0604020202020204" pitchFamily="34" charset="0"/>
              </a:rPr>
              <a:t> to a model’s prediction, for each individual prediction.</a:t>
            </a:r>
          </a:p>
        </p:txBody>
      </p:sp>
      <p:sp>
        <p:nvSpPr>
          <p:cNvPr id="7" name="TextBox 6">
            <a:extLst>
              <a:ext uri="{FF2B5EF4-FFF2-40B4-BE49-F238E27FC236}">
                <a16:creationId xmlns:a16="http://schemas.microsoft.com/office/drawing/2014/main" id="{6BA9D2E6-A024-661D-1622-1DE3897B52C3}"/>
              </a:ext>
            </a:extLst>
          </p:cNvPr>
          <p:cNvSpPr txBox="1"/>
          <p:nvPr/>
        </p:nvSpPr>
        <p:spPr>
          <a:xfrm>
            <a:off x="264318" y="1592116"/>
            <a:ext cx="11265695"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Imagine a </a:t>
            </a:r>
            <a:r>
              <a:rPr lang="en-US" b="1" dirty="0">
                <a:latin typeface="Arial" panose="020B0604020202020204" pitchFamily="34" charset="0"/>
                <a:cs typeface="Arial" panose="020B0604020202020204" pitchFamily="34" charset="0"/>
              </a:rPr>
              <a:t>team of features</a:t>
            </a:r>
            <a:r>
              <a:rPr lang="en-US" dirty="0">
                <a:latin typeface="Arial" panose="020B0604020202020204" pitchFamily="34" charset="0"/>
                <a:cs typeface="Arial" panose="020B0604020202020204" pitchFamily="34" charset="0"/>
              </a:rPr>
              <a:t> playing a game to predict bottom oxygen. The final prediction is the “score” the team achieves. SHAP asks:</a:t>
            </a:r>
            <a:r>
              <a:rPr lang="zh-C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"If we remove one player (surface measurement type), how much does the team’s score change?"</a:t>
            </a:r>
          </a:p>
          <a:p>
            <a:r>
              <a:rPr lang="en-US" dirty="0">
                <a:latin typeface="Arial" panose="020B0604020202020204" pitchFamily="34" charset="0"/>
                <a:cs typeface="Arial" panose="020B0604020202020204" pitchFamily="34" charset="0"/>
              </a:rPr>
              <a:t>By testing </a:t>
            </a:r>
            <a:r>
              <a:rPr lang="en-US" b="1" dirty="0">
                <a:latin typeface="Arial" panose="020B0604020202020204" pitchFamily="34" charset="0"/>
                <a:cs typeface="Arial" panose="020B0604020202020204" pitchFamily="34" charset="0"/>
              </a:rPr>
              <a:t>all combinations of feature contributions</a:t>
            </a:r>
            <a:r>
              <a:rPr lang="en-US" dirty="0">
                <a:latin typeface="Arial" panose="020B0604020202020204" pitchFamily="34" charset="0"/>
                <a:cs typeface="Arial" panose="020B0604020202020204" pitchFamily="34" charset="0"/>
              </a:rPr>
              <a:t>, SHAP computes each feature’s </a:t>
            </a:r>
            <a:r>
              <a:rPr lang="en-US" b="1" dirty="0">
                <a:latin typeface="Arial" panose="020B0604020202020204" pitchFamily="34" charset="0"/>
                <a:cs typeface="Arial" panose="020B0604020202020204" pitchFamily="34" charset="0"/>
              </a:rPr>
              <a:t>average contribution</a:t>
            </a:r>
            <a:r>
              <a:rPr lang="en-US" dirty="0">
                <a:latin typeface="Arial" panose="020B0604020202020204" pitchFamily="34" charset="0"/>
                <a:cs typeface="Arial" panose="020B0604020202020204" pitchFamily="34" charset="0"/>
              </a:rPr>
              <a:t> — this is the </a:t>
            </a:r>
            <a:r>
              <a:rPr lang="en-US" b="1" dirty="0">
                <a:latin typeface="Arial" panose="020B0604020202020204" pitchFamily="34" charset="0"/>
                <a:cs typeface="Arial" panose="020B0604020202020204" pitchFamily="34" charset="0"/>
              </a:rPr>
              <a:t>SHAP value</a:t>
            </a:r>
            <a:r>
              <a:rPr lang="en-US" dirty="0">
                <a:latin typeface="Arial" panose="020B0604020202020204" pitchFamily="34" charset="0"/>
                <a:cs typeface="Arial" panose="020B0604020202020204" pitchFamily="34" charset="0"/>
              </a:rPr>
              <a:t>.</a:t>
            </a:r>
          </a:p>
        </p:txBody>
      </p:sp>
      <p:sp>
        <p:nvSpPr>
          <p:cNvPr id="8" name="Slide Number Placeholder 7">
            <a:extLst>
              <a:ext uri="{FF2B5EF4-FFF2-40B4-BE49-F238E27FC236}">
                <a16:creationId xmlns:a16="http://schemas.microsoft.com/office/drawing/2014/main" id="{237AF468-36CE-6FD0-4D83-1A09454D6A8D}"/>
              </a:ext>
            </a:extLst>
          </p:cNvPr>
          <p:cNvSpPr>
            <a:spLocks noGrp="1"/>
          </p:cNvSpPr>
          <p:nvPr>
            <p:ph type="sldNum" sz="quarter" idx="12"/>
          </p:nvPr>
        </p:nvSpPr>
        <p:spPr/>
        <p:txBody>
          <a:bodyPr/>
          <a:lstStyle/>
          <a:p>
            <a:fld id="{83863B2D-D332-084B-BF65-F0D9A30319D9}" type="slidenum">
              <a:rPr lang="en-US" smtClean="0"/>
              <a:t>8</a:t>
            </a:fld>
            <a:endParaRPr lang="en-US"/>
          </a:p>
        </p:txBody>
      </p:sp>
    </p:spTree>
    <p:extLst>
      <p:ext uri="{BB962C8B-B14F-4D97-AF65-F5344CB8AC3E}">
        <p14:creationId xmlns:p14="http://schemas.microsoft.com/office/powerpoint/2010/main" val="416780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9201B62-0ABF-BDBD-4458-241B79D9A1AE}"/>
              </a:ext>
            </a:extLst>
          </p:cNvPr>
          <p:cNvSpPr txBox="1"/>
          <p:nvPr/>
        </p:nvSpPr>
        <p:spPr>
          <a:xfrm>
            <a:off x="575754" y="671379"/>
            <a:ext cx="10601435" cy="2246769"/>
          </a:xfrm>
          <a:prstGeom prst="rect">
            <a:avLst/>
          </a:prstGeom>
          <a:noFill/>
        </p:spPr>
        <p:txBody>
          <a:bodyPr wrap="square">
            <a:spAutoFit/>
          </a:bodyPr>
          <a:lstStyle/>
          <a:p>
            <a:r>
              <a:rPr lang="en-US" sz="2800" i="1" dirty="0">
                <a:solidFill>
                  <a:schemeClr val="accent6">
                    <a:lumMod val="75000"/>
                  </a:schemeClr>
                </a:solidFill>
                <a:latin typeface="Arial" panose="020B0604020202020204" pitchFamily="34" charset="0"/>
                <a:cs typeface="Arial" panose="020B0604020202020204" pitchFamily="34" charset="0"/>
              </a:rPr>
              <a:t>Playground time, let’s go have some fun!</a:t>
            </a:r>
          </a:p>
          <a:p>
            <a:endParaRPr lang="en-US" sz="2800" i="1" dirty="0">
              <a:solidFill>
                <a:schemeClr val="accent6">
                  <a:lumMod val="75000"/>
                </a:schemeClr>
              </a:solidFill>
              <a:latin typeface="Arial" panose="020B0604020202020204" pitchFamily="34" charset="0"/>
              <a:cs typeface="Arial" panose="020B0604020202020204" pitchFamily="34" charset="0"/>
            </a:endParaRPr>
          </a:p>
          <a:p>
            <a:r>
              <a:rPr lang="en-US" altLang="zh-CN" sz="2800" i="1" dirty="0">
                <a:solidFill>
                  <a:schemeClr val="accent6">
                    <a:lumMod val="75000"/>
                  </a:schemeClr>
                </a:solidFill>
                <a:latin typeface="Arial" panose="020B0604020202020204" pitchFamily="34" charset="0"/>
                <a:cs typeface="Arial" panose="020B0604020202020204" pitchFamily="34" charset="0"/>
              </a:rPr>
              <a:t>C</a:t>
            </a:r>
            <a:r>
              <a:rPr lang="en-US" sz="2800" i="1" dirty="0">
                <a:solidFill>
                  <a:schemeClr val="accent6">
                    <a:lumMod val="75000"/>
                  </a:schemeClr>
                </a:solidFill>
                <a:latin typeface="Arial" panose="020B0604020202020204" pitchFamily="34" charset="0"/>
                <a:cs typeface="Arial" panose="020B0604020202020204" pitchFamily="34" charset="0"/>
              </a:rPr>
              <a:t>leaning up the data</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is</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the</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most</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time</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consuming</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process…</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But,</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today</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you</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don’t</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need</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to</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clean</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up</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the</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data</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by</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yourself,</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we</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will</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start</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with</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the</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cleaned</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up</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data</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a:t>
            </a:r>
            <a:r>
              <a:rPr lang="zh-CN" altLang="en-US" sz="2800" i="1" dirty="0">
                <a:solidFill>
                  <a:schemeClr val="accent6">
                    <a:lumMod val="75000"/>
                  </a:schemeClr>
                </a:solidFill>
                <a:latin typeface="Arial" panose="020B0604020202020204" pitchFamily="34" charset="0"/>
                <a:cs typeface="Arial" panose="020B0604020202020204" pitchFamily="34" charset="0"/>
              </a:rPr>
              <a:t> </a:t>
            </a:r>
            <a:r>
              <a:rPr lang="en-US" altLang="zh-CN" sz="2800" i="1" dirty="0">
                <a:solidFill>
                  <a:schemeClr val="accent6">
                    <a:lumMod val="75000"/>
                  </a:schemeClr>
                </a:solidFill>
                <a:latin typeface="Arial" panose="020B0604020202020204" pitchFamily="34" charset="0"/>
                <a:cs typeface="Arial" panose="020B0604020202020204" pitchFamily="34" charset="0"/>
              </a:rPr>
              <a:t>)</a:t>
            </a:r>
            <a:endParaRPr lang="en-US" sz="2800" i="1" dirty="0">
              <a:solidFill>
                <a:schemeClr val="accent6">
                  <a:lumMod val="75000"/>
                </a:schemeClr>
              </a:solidFill>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B3588A76-ADC7-7855-A2A6-4BFA307E9A43}"/>
              </a:ext>
            </a:extLst>
          </p:cNvPr>
          <p:cNvSpPr>
            <a:spLocks noGrp="1"/>
          </p:cNvSpPr>
          <p:nvPr>
            <p:ph type="sldNum" sz="quarter" idx="12"/>
          </p:nvPr>
        </p:nvSpPr>
        <p:spPr/>
        <p:txBody>
          <a:bodyPr/>
          <a:lstStyle/>
          <a:p>
            <a:fld id="{83863B2D-D332-084B-BF65-F0D9A30319D9}" type="slidenum">
              <a:rPr lang="en-US" smtClean="0"/>
              <a:t>9</a:t>
            </a:fld>
            <a:endParaRPr lang="en-US"/>
          </a:p>
        </p:txBody>
      </p:sp>
      <p:sp>
        <p:nvSpPr>
          <p:cNvPr id="11" name="TextBox 10">
            <a:extLst>
              <a:ext uri="{FF2B5EF4-FFF2-40B4-BE49-F238E27FC236}">
                <a16:creationId xmlns:a16="http://schemas.microsoft.com/office/drawing/2014/main" id="{B136D9A6-3758-FEE6-9506-60587E0D0C3D}"/>
              </a:ext>
            </a:extLst>
          </p:cNvPr>
          <p:cNvSpPr txBox="1"/>
          <p:nvPr/>
        </p:nvSpPr>
        <p:spPr>
          <a:xfrm>
            <a:off x="3528787" y="4659312"/>
            <a:ext cx="5000171" cy="2032000"/>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918509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9B17DE-6D61-E8A3-87B1-9C54629E76A9}"/>
              </a:ext>
            </a:extLst>
          </p:cNvPr>
          <p:cNvSpPr>
            <a:spLocks noGrp="1"/>
          </p:cNvSpPr>
          <p:nvPr>
            <p:ph type="sldNum" sz="quarter" idx="12"/>
          </p:nvPr>
        </p:nvSpPr>
        <p:spPr/>
        <p:txBody>
          <a:bodyPr/>
          <a:lstStyle/>
          <a:p>
            <a:fld id="{83863B2D-D332-084B-BF65-F0D9A30319D9}" type="slidenum">
              <a:rPr lang="en-US" smtClean="0"/>
              <a:t>10</a:t>
            </a:fld>
            <a:endParaRPr lang="en-US"/>
          </a:p>
        </p:txBody>
      </p:sp>
      <p:sp>
        <p:nvSpPr>
          <p:cNvPr id="5" name="TextBox 4">
            <a:extLst>
              <a:ext uri="{FF2B5EF4-FFF2-40B4-BE49-F238E27FC236}">
                <a16:creationId xmlns:a16="http://schemas.microsoft.com/office/drawing/2014/main" id="{10416B5C-BE8B-348E-A0B6-E737A9C4D5F8}"/>
              </a:ext>
            </a:extLst>
          </p:cNvPr>
          <p:cNvSpPr txBox="1"/>
          <p:nvPr/>
        </p:nvSpPr>
        <p:spPr>
          <a:xfrm>
            <a:off x="899333" y="2998100"/>
            <a:ext cx="10001955" cy="400110"/>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Hackathon</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Track</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A</a:t>
            </a:r>
            <a:r>
              <a:rPr lang="en-US" sz="2000" b="1" dirty="0">
                <a:latin typeface="Arial" panose="020B0604020202020204" pitchFamily="34" charset="0"/>
                <a:cs typeface="Arial" panose="020B0604020202020204" pitchFamily="34" charset="0"/>
              </a:rPr>
              <a:t>. Predict Future Dissolved Oxygen in Chesapeake Bay</a:t>
            </a:r>
          </a:p>
        </p:txBody>
      </p:sp>
      <p:sp>
        <p:nvSpPr>
          <p:cNvPr id="6" name="TextBox 5">
            <a:extLst>
              <a:ext uri="{FF2B5EF4-FFF2-40B4-BE49-F238E27FC236}">
                <a16:creationId xmlns:a16="http://schemas.microsoft.com/office/drawing/2014/main" id="{FFE1951A-7596-A910-3499-289DB1080CED}"/>
              </a:ext>
            </a:extLst>
          </p:cNvPr>
          <p:cNvSpPr txBox="1"/>
          <p:nvPr/>
        </p:nvSpPr>
        <p:spPr>
          <a:xfrm>
            <a:off x="899333" y="3459791"/>
            <a:ext cx="10454467" cy="707886"/>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Hackathon</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Track</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B</a:t>
            </a:r>
            <a:r>
              <a:rPr lang="en-US" sz="2000" b="1" dirty="0">
                <a:latin typeface="Arial" panose="020B0604020202020204" pitchFamily="34" charset="0"/>
                <a:cs typeface="Arial" panose="020B0604020202020204" pitchFamily="34" charset="0"/>
              </a:rPr>
              <a:t>. Predict</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Phytoplankton (</a:t>
            </a:r>
            <a:r>
              <a:rPr lang="en-US" sz="2000" b="1" dirty="0">
                <a:latin typeface="Arial" panose="020B0604020202020204" pitchFamily="34" charset="0"/>
                <a:cs typeface="Arial" panose="020B0604020202020204" pitchFamily="34" charset="0"/>
              </a:rPr>
              <a:t>Chlorophyll-a) from</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Satellite Remote Sensing of Ocean Color (</a:t>
            </a:r>
            <a:r>
              <a:rPr lang="en-US" sz="2000" b="1" dirty="0">
                <a:latin typeface="Arial" panose="020B0604020202020204" pitchFamily="34" charset="0"/>
                <a:cs typeface="Arial" panose="020B0604020202020204" pitchFamily="34" charset="0"/>
              </a:rPr>
              <a:t>Sentinel-3</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OLCI)</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over</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Chesapeake</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Bay</a:t>
            </a:r>
          </a:p>
        </p:txBody>
      </p:sp>
      <p:sp>
        <p:nvSpPr>
          <p:cNvPr id="7" name="Rounded Rectangle 6">
            <a:extLst>
              <a:ext uri="{FF2B5EF4-FFF2-40B4-BE49-F238E27FC236}">
                <a16:creationId xmlns:a16="http://schemas.microsoft.com/office/drawing/2014/main" id="{9BD9F066-2D93-75AC-10DB-401B812874F8}"/>
              </a:ext>
            </a:extLst>
          </p:cNvPr>
          <p:cNvSpPr/>
          <p:nvPr/>
        </p:nvSpPr>
        <p:spPr>
          <a:xfrm>
            <a:off x="899333" y="2814638"/>
            <a:ext cx="10393334" cy="1630076"/>
          </a:xfrm>
          <a:prstGeom prst="round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324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45A0F-05DF-E95F-902C-B50A538D87FE}"/>
            </a:ext>
          </a:extLst>
        </p:cNvPr>
        <p:cNvGrpSpPr/>
        <p:nvPr/>
      </p:nvGrpSpPr>
      <p:grpSpPr>
        <a:xfrm>
          <a:off x="0" y="0"/>
          <a:ext cx="0" cy="0"/>
          <a:chOff x="0" y="0"/>
          <a:chExt cx="0" cy="0"/>
        </a:xfrm>
      </p:grpSpPr>
      <p:pic>
        <p:nvPicPr>
          <p:cNvPr id="58" name="Picture 57" descr="A blue and white rectangles&#10;&#10;AI-generated content may be incorrect.">
            <a:extLst>
              <a:ext uri="{FF2B5EF4-FFF2-40B4-BE49-F238E27FC236}">
                <a16:creationId xmlns:a16="http://schemas.microsoft.com/office/drawing/2014/main" id="{1BDACE00-6327-8F87-B640-9D14BF0A0FE8}"/>
              </a:ext>
            </a:extLst>
          </p:cNvPr>
          <p:cNvPicPr>
            <a:picLocks noChangeAspect="1"/>
          </p:cNvPicPr>
          <p:nvPr/>
        </p:nvPicPr>
        <p:blipFill>
          <a:blip r:embed="rId3"/>
          <a:stretch>
            <a:fillRect/>
          </a:stretch>
        </p:blipFill>
        <p:spPr>
          <a:xfrm>
            <a:off x="10229247" y="4154944"/>
            <a:ext cx="1562253" cy="670004"/>
          </a:xfrm>
          <a:prstGeom prst="rect">
            <a:avLst/>
          </a:prstGeom>
        </p:spPr>
      </p:pic>
      <p:pic>
        <p:nvPicPr>
          <p:cNvPr id="61" name="Picture 60" descr="A graph with blue and white text&#10;&#10;AI-generated content may be incorrect.">
            <a:extLst>
              <a:ext uri="{FF2B5EF4-FFF2-40B4-BE49-F238E27FC236}">
                <a16:creationId xmlns:a16="http://schemas.microsoft.com/office/drawing/2014/main" id="{919C19D4-7910-0E65-1649-C6F49655B4BF}"/>
              </a:ext>
            </a:extLst>
          </p:cNvPr>
          <p:cNvPicPr>
            <a:picLocks noChangeAspect="1"/>
          </p:cNvPicPr>
          <p:nvPr/>
        </p:nvPicPr>
        <p:blipFill>
          <a:blip r:embed="rId4"/>
          <a:stretch>
            <a:fillRect/>
          </a:stretch>
        </p:blipFill>
        <p:spPr>
          <a:xfrm>
            <a:off x="7323911" y="4066906"/>
            <a:ext cx="1265627" cy="924689"/>
          </a:xfrm>
          <a:prstGeom prst="rect">
            <a:avLst/>
          </a:prstGeom>
        </p:spPr>
      </p:pic>
      <p:pic>
        <p:nvPicPr>
          <p:cNvPr id="38" name="Picture 37" descr="A diagram of a diagram&#10;&#10;AI-generated content may be incorrect.">
            <a:extLst>
              <a:ext uri="{FF2B5EF4-FFF2-40B4-BE49-F238E27FC236}">
                <a16:creationId xmlns:a16="http://schemas.microsoft.com/office/drawing/2014/main" id="{7180786C-0AB7-6465-E98C-4718E0473B00}"/>
              </a:ext>
            </a:extLst>
          </p:cNvPr>
          <p:cNvPicPr>
            <a:picLocks noChangeAspect="1"/>
          </p:cNvPicPr>
          <p:nvPr/>
        </p:nvPicPr>
        <p:blipFill>
          <a:blip r:embed="rId5"/>
          <a:stretch>
            <a:fillRect/>
          </a:stretch>
        </p:blipFill>
        <p:spPr>
          <a:xfrm>
            <a:off x="7727317" y="459065"/>
            <a:ext cx="3680086" cy="2255422"/>
          </a:xfrm>
          <a:prstGeom prst="rect">
            <a:avLst/>
          </a:prstGeom>
        </p:spPr>
      </p:pic>
      <p:pic>
        <p:nvPicPr>
          <p:cNvPr id="48" name="Picture 47" descr="A graph with blue dots and red line&#10;&#10;AI-generated content may be incorrect.">
            <a:extLst>
              <a:ext uri="{FF2B5EF4-FFF2-40B4-BE49-F238E27FC236}">
                <a16:creationId xmlns:a16="http://schemas.microsoft.com/office/drawing/2014/main" id="{516D9B86-BDB6-E8DE-7D88-982E3A674801}"/>
              </a:ext>
            </a:extLst>
          </p:cNvPr>
          <p:cNvPicPr>
            <a:picLocks noChangeAspect="1"/>
          </p:cNvPicPr>
          <p:nvPr/>
        </p:nvPicPr>
        <p:blipFill>
          <a:blip r:embed="rId6"/>
          <a:stretch>
            <a:fillRect/>
          </a:stretch>
        </p:blipFill>
        <p:spPr>
          <a:xfrm>
            <a:off x="7148998" y="2100542"/>
            <a:ext cx="1839433" cy="1911805"/>
          </a:xfrm>
          <a:prstGeom prst="rect">
            <a:avLst/>
          </a:prstGeom>
        </p:spPr>
      </p:pic>
      <p:pic>
        <p:nvPicPr>
          <p:cNvPr id="67" name="Picture 66" descr="A graph with a red line&#10;&#10;AI-generated content may be incorrect.">
            <a:extLst>
              <a:ext uri="{FF2B5EF4-FFF2-40B4-BE49-F238E27FC236}">
                <a16:creationId xmlns:a16="http://schemas.microsoft.com/office/drawing/2014/main" id="{26EEE529-DD41-1DC2-1D4D-CB32EE8122B2}"/>
              </a:ext>
            </a:extLst>
          </p:cNvPr>
          <p:cNvPicPr>
            <a:picLocks noChangeAspect="1"/>
          </p:cNvPicPr>
          <p:nvPr/>
        </p:nvPicPr>
        <p:blipFill>
          <a:blip r:embed="rId7"/>
          <a:stretch>
            <a:fillRect/>
          </a:stretch>
        </p:blipFill>
        <p:spPr>
          <a:xfrm>
            <a:off x="10003704" y="5092269"/>
            <a:ext cx="1495486" cy="1566219"/>
          </a:xfrm>
          <a:prstGeom prst="rect">
            <a:avLst/>
          </a:prstGeom>
        </p:spPr>
      </p:pic>
      <p:sp>
        <p:nvSpPr>
          <p:cNvPr id="96" name="Up-Down Arrow 95">
            <a:extLst>
              <a:ext uri="{FF2B5EF4-FFF2-40B4-BE49-F238E27FC236}">
                <a16:creationId xmlns:a16="http://schemas.microsoft.com/office/drawing/2014/main" id="{65DDF7B8-A31C-0EB7-A582-0D2811DF14C5}"/>
              </a:ext>
            </a:extLst>
          </p:cNvPr>
          <p:cNvSpPr/>
          <p:nvPr/>
        </p:nvSpPr>
        <p:spPr>
          <a:xfrm>
            <a:off x="6285526" y="4262225"/>
            <a:ext cx="417583" cy="787019"/>
          </a:xfrm>
          <a:prstGeom prst="upDownArrow">
            <a:avLst/>
          </a:prstGeom>
          <a:pattFill prst="ltHorz">
            <a:fgClr>
              <a:schemeClr val="bg1"/>
            </a:fgClr>
            <a:bgClr>
              <a:schemeClr val="bg2">
                <a:lumMod val="90000"/>
              </a:schemeClr>
            </a:bgClr>
          </a:pattFill>
          <a:ln>
            <a:noFill/>
            <a:prstDash val="solid"/>
            <a:extLst>
              <a:ext uri="{C807C97D-BFC1-408E-A445-0C87EB9F89A2}">
                <ask:lineSketchStyleProps xmlns:ask="http://schemas.microsoft.com/office/drawing/2018/sketchyshapes" sd="1219033472">
                  <a:custGeom>
                    <a:avLst/>
                    <a:gdLst>
                      <a:gd name="connsiteX0" fmla="*/ 0 w 252355"/>
                      <a:gd name="connsiteY0" fmla="*/ 126178 h 715833"/>
                      <a:gd name="connsiteX1" fmla="*/ 126178 w 252355"/>
                      <a:gd name="connsiteY1" fmla="*/ 0 h 715833"/>
                      <a:gd name="connsiteX2" fmla="*/ 252355 w 252355"/>
                      <a:gd name="connsiteY2" fmla="*/ 126178 h 715833"/>
                      <a:gd name="connsiteX3" fmla="*/ 189266 w 252355"/>
                      <a:gd name="connsiteY3" fmla="*/ 126178 h 715833"/>
                      <a:gd name="connsiteX4" fmla="*/ 189266 w 252355"/>
                      <a:gd name="connsiteY4" fmla="*/ 589656 h 715833"/>
                      <a:gd name="connsiteX5" fmla="*/ 252355 w 252355"/>
                      <a:gd name="connsiteY5" fmla="*/ 589656 h 715833"/>
                      <a:gd name="connsiteX6" fmla="*/ 126178 w 252355"/>
                      <a:gd name="connsiteY6" fmla="*/ 715833 h 715833"/>
                      <a:gd name="connsiteX7" fmla="*/ 0 w 252355"/>
                      <a:gd name="connsiteY7" fmla="*/ 589656 h 715833"/>
                      <a:gd name="connsiteX8" fmla="*/ 63089 w 252355"/>
                      <a:gd name="connsiteY8" fmla="*/ 589656 h 715833"/>
                      <a:gd name="connsiteX9" fmla="*/ 63089 w 252355"/>
                      <a:gd name="connsiteY9" fmla="*/ 126178 h 715833"/>
                      <a:gd name="connsiteX10" fmla="*/ 0 w 252355"/>
                      <a:gd name="connsiteY10" fmla="*/ 126178 h 71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355" h="715833" fill="none" extrusionOk="0">
                        <a:moveTo>
                          <a:pt x="0" y="126178"/>
                        </a:moveTo>
                        <a:cubicBezTo>
                          <a:pt x="18894" y="101053"/>
                          <a:pt x="72486" y="65975"/>
                          <a:pt x="126178" y="0"/>
                        </a:cubicBezTo>
                        <a:cubicBezTo>
                          <a:pt x="162219" y="30467"/>
                          <a:pt x="221987" y="110270"/>
                          <a:pt x="252355" y="126178"/>
                        </a:cubicBezTo>
                        <a:cubicBezTo>
                          <a:pt x="241033" y="130503"/>
                          <a:pt x="220693" y="129067"/>
                          <a:pt x="189266" y="126178"/>
                        </a:cubicBezTo>
                        <a:cubicBezTo>
                          <a:pt x="171132" y="294961"/>
                          <a:pt x="189406" y="462714"/>
                          <a:pt x="189266" y="589656"/>
                        </a:cubicBezTo>
                        <a:cubicBezTo>
                          <a:pt x="196685" y="588389"/>
                          <a:pt x="243114" y="588565"/>
                          <a:pt x="252355" y="589656"/>
                        </a:cubicBezTo>
                        <a:cubicBezTo>
                          <a:pt x="220668" y="636871"/>
                          <a:pt x="163504" y="683321"/>
                          <a:pt x="126178" y="715833"/>
                        </a:cubicBezTo>
                        <a:cubicBezTo>
                          <a:pt x="82731" y="687289"/>
                          <a:pt x="45051" y="612162"/>
                          <a:pt x="0" y="589656"/>
                        </a:cubicBezTo>
                        <a:cubicBezTo>
                          <a:pt x="22038" y="592917"/>
                          <a:pt x="51992" y="588023"/>
                          <a:pt x="63089" y="589656"/>
                        </a:cubicBezTo>
                        <a:cubicBezTo>
                          <a:pt x="83565" y="540680"/>
                          <a:pt x="42763" y="223211"/>
                          <a:pt x="63089" y="126178"/>
                        </a:cubicBezTo>
                        <a:cubicBezTo>
                          <a:pt x="46023" y="120924"/>
                          <a:pt x="18273" y="128969"/>
                          <a:pt x="0" y="126178"/>
                        </a:cubicBezTo>
                        <a:close/>
                      </a:path>
                      <a:path w="252355" h="715833" stroke="0" extrusionOk="0">
                        <a:moveTo>
                          <a:pt x="0" y="126178"/>
                        </a:moveTo>
                        <a:cubicBezTo>
                          <a:pt x="50869" y="91841"/>
                          <a:pt x="113208" y="30290"/>
                          <a:pt x="126178" y="0"/>
                        </a:cubicBezTo>
                        <a:cubicBezTo>
                          <a:pt x="182198" y="50057"/>
                          <a:pt x="238263" y="113203"/>
                          <a:pt x="252355" y="126178"/>
                        </a:cubicBezTo>
                        <a:cubicBezTo>
                          <a:pt x="232176" y="128460"/>
                          <a:pt x="214004" y="129949"/>
                          <a:pt x="189266" y="126178"/>
                        </a:cubicBezTo>
                        <a:cubicBezTo>
                          <a:pt x="219699" y="178330"/>
                          <a:pt x="155041" y="463415"/>
                          <a:pt x="189266" y="589656"/>
                        </a:cubicBezTo>
                        <a:cubicBezTo>
                          <a:pt x="216256" y="587662"/>
                          <a:pt x="220871" y="591281"/>
                          <a:pt x="252355" y="589656"/>
                        </a:cubicBezTo>
                        <a:cubicBezTo>
                          <a:pt x="237115" y="619749"/>
                          <a:pt x="171365" y="658826"/>
                          <a:pt x="126178" y="715833"/>
                        </a:cubicBezTo>
                        <a:cubicBezTo>
                          <a:pt x="90864" y="675576"/>
                          <a:pt x="63594" y="640282"/>
                          <a:pt x="0" y="589656"/>
                        </a:cubicBezTo>
                        <a:cubicBezTo>
                          <a:pt x="30920" y="585758"/>
                          <a:pt x="49313" y="595302"/>
                          <a:pt x="63089" y="589656"/>
                        </a:cubicBezTo>
                        <a:cubicBezTo>
                          <a:pt x="35112" y="429300"/>
                          <a:pt x="101001" y="322874"/>
                          <a:pt x="63089" y="126178"/>
                        </a:cubicBezTo>
                        <a:cubicBezTo>
                          <a:pt x="50894" y="129667"/>
                          <a:pt x="21314" y="129575"/>
                          <a:pt x="0" y="126178"/>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24C8415-02A3-ABC4-B7D7-B195E1E6ED56}"/>
              </a:ext>
            </a:extLst>
          </p:cNvPr>
          <p:cNvSpPr/>
          <p:nvPr/>
        </p:nvSpPr>
        <p:spPr>
          <a:xfrm>
            <a:off x="4680690" y="3745167"/>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6DF776-8DB0-C00E-6D34-0C89A890B028}"/>
              </a:ext>
            </a:extLst>
          </p:cNvPr>
          <p:cNvSpPr/>
          <p:nvPr/>
        </p:nvSpPr>
        <p:spPr>
          <a:xfrm>
            <a:off x="4666896" y="2648130"/>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96C4F23-2D9A-D4B7-C396-50C77B31293B}"/>
              </a:ext>
            </a:extLst>
          </p:cNvPr>
          <p:cNvSpPr/>
          <p:nvPr/>
        </p:nvSpPr>
        <p:spPr>
          <a:xfrm>
            <a:off x="4680690" y="1555579"/>
            <a:ext cx="1504245" cy="787019"/>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001683A-A15C-EE29-ECCD-1127CBE3DA5A}"/>
              </a:ext>
            </a:extLst>
          </p:cNvPr>
          <p:cNvSpPr txBox="1"/>
          <p:nvPr/>
        </p:nvSpPr>
        <p:spPr>
          <a:xfrm>
            <a:off x="117565" y="14022"/>
            <a:ext cx="10001955" cy="400110"/>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Advanced</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Tutorial </a:t>
            </a:r>
            <a:r>
              <a:rPr lang="en-US" altLang="zh-CN" sz="2000" b="1" dirty="0">
                <a:latin typeface="Arial" panose="020B0604020202020204" pitchFamily="34" charset="0"/>
                <a:cs typeface="Arial" panose="020B0604020202020204" pitchFamily="34" charset="0"/>
              </a:rPr>
              <a:t>2</a:t>
            </a:r>
            <a:r>
              <a:rPr lang="en-US" sz="2000" b="1" dirty="0">
                <a:latin typeface="Arial" panose="020B0604020202020204" pitchFamily="34" charset="0"/>
                <a:cs typeface="Arial" panose="020B0604020202020204" pitchFamily="34" charset="0"/>
              </a:rPr>
              <a:t>. Predict</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Future</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DO</a:t>
            </a:r>
            <a:r>
              <a:rPr lang="zh-CN" altLang="en-US" sz="2000" b="1" dirty="0">
                <a:latin typeface="Arial" panose="020B0604020202020204" pitchFamily="34" charset="0"/>
                <a:cs typeface="Arial" panose="020B0604020202020204" pitchFamily="34" charset="0"/>
              </a:rPr>
              <a:t> </a:t>
            </a:r>
            <a:endParaRPr lang="en-US" sz="2000" b="1"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6C8F898F-4EA3-FAFE-11C8-440CD04C9045}"/>
              </a:ext>
            </a:extLst>
          </p:cNvPr>
          <p:cNvSpPr/>
          <p:nvPr/>
        </p:nvSpPr>
        <p:spPr>
          <a:xfrm>
            <a:off x="4680692" y="475390"/>
            <a:ext cx="1504245" cy="787019"/>
          </a:xfrm>
          <a:prstGeom prst="rect">
            <a:avLst/>
          </a:prstGeom>
          <a:solidFill>
            <a:schemeClr val="accent1">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6C7308-6908-B5E9-45A5-5F8C7B72266A}"/>
              </a:ext>
            </a:extLst>
          </p:cNvPr>
          <p:cNvSpPr txBox="1"/>
          <p:nvPr/>
        </p:nvSpPr>
        <p:spPr>
          <a:xfrm>
            <a:off x="4637649" y="672423"/>
            <a:ext cx="160584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Measurement</a:t>
            </a:r>
          </a:p>
        </p:txBody>
      </p:sp>
      <p:sp>
        <p:nvSpPr>
          <p:cNvPr id="7" name="TextBox 6">
            <a:extLst>
              <a:ext uri="{FF2B5EF4-FFF2-40B4-BE49-F238E27FC236}">
                <a16:creationId xmlns:a16="http://schemas.microsoft.com/office/drawing/2014/main" id="{58BEE84B-2B9F-AC86-FECC-1F741C750FBA}"/>
              </a:ext>
            </a:extLst>
          </p:cNvPr>
          <p:cNvSpPr txBox="1"/>
          <p:nvPr/>
        </p:nvSpPr>
        <p:spPr>
          <a:xfrm>
            <a:off x="4847652" y="1619010"/>
            <a:ext cx="115005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Retrieval</a:t>
            </a:r>
          </a:p>
        </p:txBody>
      </p:sp>
      <p:pic>
        <p:nvPicPr>
          <p:cNvPr id="10" name="Picture 9" descr="A logo with a yellow circle and white text&#10;&#10;AI-generated content may be incorrect.">
            <a:extLst>
              <a:ext uri="{FF2B5EF4-FFF2-40B4-BE49-F238E27FC236}">
                <a16:creationId xmlns:a16="http://schemas.microsoft.com/office/drawing/2014/main" id="{8255D04F-DE48-2BCE-BA01-DFEAEE37FF22}"/>
              </a:ext>
            </a:extLst>
          </p:cNvPr>
          <p:cNvPicPr>
            <a:picLocks noChangeAspect="1"/>
          </p:cNvPicPr>
          <p:nvPr/>
        </p:nvPicPr>
        <p:blipFill>
          <a:blip r:embed="rId8"/>
          <a:stretch>
            <a:fillRect/>
          </a:stretch>
        </p:blipFill>
        <p:spPr>
          <a:xfrm>
            <a:off x="2278547" y="847075"/>
            <a:ext cx="1682045" cy="627357"/>
          </a:xfrm>
          <a:prstGeom prst="rect">
            <a:avLst/>
          </a:prstGeom>
        </p:spPr>
      </p:pic>
      <p:sp>
        <p:nvSpPr>
          <p:cNvPr id="17" name="TextBox 16">
            <a:extLst>
              <a:ext uri="{FF2B5EF4-FFF2-40B4-BE49-F238E27FC236}">
                <a16:creationId xmlns:a16="http://schemas.microsoft.com/office/drawing/2014/main" id="{8B49C85D-549B-1F85-29E7-B506CFD06FD1}"/>
              </a:ext>
            </a:extLst>
          </p:cNvPr>
          <p:cNvSpPr txBox="1"/>
          <p:nvPr/>
        </p:nvSpPr>
        <p:spPr>
          <a:xfrm>
            <a:off x="4758687" y="2719800"/>
            <a:ext cx="1343378"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Cleaning</a:t>
            </a:r>
          </a:p>
        </p:txBody>
      </p:sp>
      <p:sp>
        <p:nvSpPr>
          <p:cNvPr id="18" name="TextBox 17">
            <a:extLst>
              <a:ext uri="{FF2B5EF4-FFF2-40B4-BE49-F238E27FC236}">
                <a16:creationId xmlns:a16="http://schemas.microsoft.com/office/drawing/2014/main" id="{6D0ED403-DD30-1BFE-FB5D-23927D84C9D5}"/>
              </a:ext>
            </a:extLst>
          </p:cNvPr>
          <p:cNvSpPr txBox="1"/>
          <p:nvPr/>
        </p:nvSpPr>
        <p:spPr>
          <a:xfrm>
            <a:off x="4531111" y="3815510"/>
            <a:ext cx="1907822" cy="646331"/>
          </a:xfrm>
          <a:prstGeom prst="rect">
            <a:avLst/>
          </a:prstGeom>
          <a:noFill/>
        </p:spPr>
        <p:txBody>
          <a:bodyPr wrap="square" rtlCol="0">
            <a:spAutoFit/>
          </a:bodyPr>
          <a:lstStyle/>
          <a:p>
            <a:pPr algn="ctr"/>
            <a:r>
              <a:rPr lang="en-US" dirty="0"/>
              <a:t>Data Reconstruction</a:t>
            </a:r>
          </a:p>
        </p:txBody>
      </p:sp>
      <p:sp>
        <p:nvSpPr>
          <p:cNvPr id="23" name="Rectangle 22">
            <a:extLst>
              <a:ext uri="{FF2B5EF4-FFF2-40B4-BE49-F238E27FC236}">
                <a16:creationId xmlns:a16="http://schemas.microsoft.com/office/drawing/2014/main" id="{C805E136-03E0-5C10-D196-8DC78F43EA7B}"/>
              </a:ext>
            </a:extLst>
          </p:cNvPr>
          <p:cNvSpPr/>
          <p:nvPr/>
        </p:nvSpPr>
        <p:spPr>
          <a:xfrm>
            <a:off x="4666896" y="4906379"/>
            <a:ext cx="1608664" cy="787019"/>
          </a:xfrm>
          <a:prstGeom prst="rect">
            <a:avLst/>
          </a:prstGeom>
          <a:solidFill>
            <a:schemeClr val="bg2">
              <a:lumMod val="75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4AE90AE-15CC-3139-6EC0-B68E87D55203}"/>
              </a:ext>
            </a:extLst>
          </p:cNvPr>
          <p:cNvSpPr txBox="1"/>
          <p:nvPr/>
        </p:nvSpPr>
        <p:spPr>
          <a:xfrm>
            <a:off x="4505520" y="5002920"/>
            <a:ext cx="1907822" cy="646331"/>
          </a:xfrm>
          <a:prstGeom prst="rect">
            <a:avLst/>
          </a:prstGeom>
          <a:noFill/>
        </p:spPr>
        <p:txBody>
          <a:bodyPr wrap="square" rtlCol="0">
            <a:spAutoFit/>
          </a:bodyPr>
          <a:lstStyle/>
          <a:p>
            <a:pPr algn="ctr"/>
            <a:r>
              <a:rPr lang="en-US" dirty="0"/>
              <a:t>Modeling/</a:t>
            </a:r>
          </a:p>
          <a:p>
            <a:pPr algn="ctr"/>
            <a:r>
              <a:rPr lang="en-US" dirty="0"/>
              <a:t>Validation</a:t>
            </a:r>
          </a:p>
        </p:txBody>
      </p:sp>
      <p:sp>
        <p:nvSpPr>
          <p:cNvPr id="31" name="Rectangle 30">
            <a:extLst>
              <a:ext uri="{FF2B5EF4-FFF2-40B4-BE49-F238E27FC236}">
                <a16:creationId xmlns:a16="http://schemas.microsoft.com/office/drawing/2014/main" id="{CF00575E-0DAC-46F8-5FDB-DD6F1CCE0CB6}"/>
              </a:ext>
            </a:extLst>
          </p:cNvPr>
          <p:cNvSpPr/>
          <p:nvPr/>
        </p:nvSpPr>
        <p:spPr>
          <a:xfrm>
            <a:off x="4642451" y="6031880"/>
            <a:ext cx="1608664" cy="585108"/>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10A2174-DFF7-B0C3-F352-7C52849502CA}"/>
              </a:ext>
            </a:extLst>
          </p:cNvPr>
          <p:cNvSpPr txBox="1"/>
          <p:nvPr/>
        </p:nvSpPr>
        <p:spPr>
          <a:xfrm>
            <a:off x="4477953" y="6116983"/>
            <a:ext cx="1907822" cy="369332"/>
          </a:xfrm>
          <a:prstGeom prst="rect">
            <a:avLst/>
          </a:prstGeom>
          <a:noFill/>
        </p:spPr>
        <p:txBody>
          <a:bodyPr wrap="square" rtlCol="0">
            <a:spAutoFit/>
          </a:bodyPr>
          <a:lstStyle/>
          <a:p>
            <a:pPr algn="ctr"/>
            <a:r>
              <a:rPr lang="en-US" dirty="0"/>
              <a:t>Discussion</a:t>
            </a:r>
          </a:p>
        </p:txBody>
      </p:sp>
      <p:sp>
        <p:nvSpPr>
          <p:cNvPr id="39" name="Down Arrow 38">
            <a:extLst>
              <a:ext uri="{FF2B5EF4-FFF2-40B4-BE49-F238E27FC236}">
                <a16:creationId xmlns:a16="http://schemas.microsoft.com/office/drawing/2014/main" id="{2F9C2CF3-12AE-FF69-CE5B-47EA885935F4}"/>
              </a:ext>
            </a:extLst>
          </p:cNvPr>
          <p:cNvSpPr/>
          <p:nvPr/>
        </p:nvSpPr>
        <p:spPr>
          <a:xfrm>
            <a:off x="5323134" y="127307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a:extLst>
              <a:ext uri="{FF2B5EF4-FFF2-40B4-BE49-F238E27FC236}">
                <a16:creationId xmlns:a16="http://schemas.microsoft.com/office/drawing/2014/main" id="{66EFC2ED-2B26-5D44-6606-C2A494B8C1DB}"/>
              </a:ext>
            </a:extLst>
          </p:cNvPr>
          <p:cNvSpPr/>
          <p:nvPr/>
        </p:nvSpPr>
        <p:spPr>
          <a:xfrm>
            <a:off x="5325567" y="2365629"/>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a:extLst>
              <a:ext uri="{FF2B5EF4-FFF2-40B4-BE49-F238E27FC236}">
                <a16:creationId xmlns:a16="http://schemas.microsoft.com/office/drawing/2014/main" id="{659A9182-7A9B-9C64-86AF-FF12EC4CC130}"/>
              </a:ext>
            </a:extLst>
          </p:cNvPr>
          <p:cNvSpPr/>
          <p:nvPr/>
        </p:nvSpPr>
        <p:spPr>
          <a:xfrm>
            <a:off x="5323915" y="3463066"/>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a:extLst>
              <a:ext uri="{FF2B5EF4-FFF2-40B4-BE49-F238E27FC236}">
                <a16:creationId xmlns:a16="http://schemas.microsoft.com/office/drawing/2014/main" id="{913EA076-856E-6672-5195-394AA70D5379}"/>
              </a:ext>
            </a:extLst>
          </p:cNvPr>
          <p:cNvSpPr/>
          <p:nvPr/>
        </p:nvSpPr>
        <p:spPr>
          <a:xfrm>
            <a:off x="5323132" y="4566574"/>
            <a:ext cx="214489" cy="313852"/>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wn Arrow 42">
            <a:extLst>
              <a:ext uri="{FF2B5EF4-FFF2-40B4-BE49-F238E27FC236}">
                <a16:creationId xmlns:a16="http://schemas.microsoft.com/office/drawing/2014/main" id="{B67345F1-326A-ECE3-7BDB-33E6895DCBC6}"/>
              </a:ext>
            </a:extLst>
          </p:cNvPr>
          <p:cNvSpPr/>
          <p:nvPr/>
        </p:nvSpPr>
        <p:spPr>
          <a:xfrm>
            <a:off x="5323133" y="572990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656CA475-EFBD-34CA-B2CB-5457652B9C5F}"/>
              </a:ext>
            </a:extLst>
          </p:cNvPr>
          <p:cNvSpPr/>
          <p:nvPr/>
        </p:nvSpPr>
        <p:spPr>
          <a:xfrm>
            <a:off x="101919" y="603201"/>
            <a:ext cx="4217926" cy="2715418"/>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a:extLst>
              <a:ext uri="{FF2B5EF4-FFF2-40B4-BE49-F238E27FC236}">
                <a16:creationId xmlns:a16="http://schemas.microsoft.com/office/drawing/2014/main" id="{C9DB5F7D-DB4D-EFAD-521A-32F2F4CDAAE3}"/>
              </a:ext>
            </a:extLst>
          </p:cNvPr>
          <p:cNvSpPr/>
          <p:nvPr/>
        </p:nvSpPr>
        <p:spPr>
          <a:xfrm>
            <a:off x="169418" y="4074848"/>
            <a:ext cx="4165938" cy="254061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9C54F55E-E869-E60C-8F4A-676D469DE5FA}"/>
              </a:ext>
            </a:extLst>
          </p:cNvPr>
          <p:cNvSpPr/>
          <p:nvPr/>
        </p:nvSpPr>
        <p:spPr>
          <a:xfrm>
            <a:off x="4465642" y="2469105"/>
            <a:ext cx="2184148" cy="222052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ounded Rectangle 74">
            <a:extLst>
              <a:ext uri="{FF2B5EF4-FFF2-40B4-BE49-F238E27FC236}">
                <a16:creationId xmlns:a16="http://schemas.microsoft.com/office/drawing/2014/main" id="{CEA1C119-1015-48CB-7313-E56D0842ABB0}"/>
              </a:ext>
            </a:extLst>
          </p:cNvPr>
          <p:cNvSpPr/>
          <p:nvPr/>
        </p:nvSpPr>
        <p:spPr>
          <a:xfrm>
            <a:off x="6848499" y="374099"/>
            <a:ext cx="5294195" cy="6343149"/>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39FF7D8F-B495-8AB4-E89F-8BF3270D79FB}"/>
              </a:ext>
            </a:extLst>
          </p:cNvPr>
          <p:cNvSpPr/>
          <p:nvPr/>
        </p:nvSpPr>
        <p:spPr>
          <a:xfrm>
            <a:off x="4496505" y="4813182"/>
            <a:ext cx="2153285" cy="193142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Curved Connector 78">
            <a:extLst>
              <a:ext uri="{FF2B5EF4-FFF2-40B4-BE49-F238E27FC236}">
                <a16:creationId xmlns:a16="http://schemas.microsoft.com/office/drawing/2014/main" id="{1E198CE6-0B3E-CA1A-D38E-1D10B04ABC15}"/>
              </a:ext>
            </a:extLst>
          </p:cNvPr>
          <p:cNvCxnSpPr>
            <a:cxnSpLocks/>
          </p:cNvCxnSpPr>
          <p:nvPr/>
        </p:nvCxnSpPr>
        <p:spPr>
          <a:xfrm rot="10800000">
            <a:off x="4060704" y="1546858"/>
            <a:ext cx="679381" cy="471620"/>
          </a:xfrm>
          <a:prstGeom prst="curvedConnector3">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urved Connector 80">
            <a:extLst>
              <a:ext uri="{FF2B5EF4-FFF2-40B4-BE49-F238E27FC236}">
                <a16:creationId xmlns:a16="http://schemas.microsoft.com/office/drawing/2014/main" id="{E1B9B8BB-C50E-7245-0114-9CF3D05878E2}"/>
              </a:ext>
            </a:extLst>
          </p:cNvPr>
          <p:cNvCxnSpPr>
            <a:cxnSpLocks/>
          </p:cNvCxnSpPr>
          <p:nvPr/>
        </p:nvCxnSpPr>
        <p:spPr>
          <a:xfrm rot="5400000">
            <a:off x="3792858" y="4170871"/>
            <a:ext cx="716208" cy="467248"/>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urved Connector 96">
            <a:extLst>
              <a:ext uri="{FF2B5EF4-FFF2-40B4-BE49-F238E27FC236}">
                <a16:creationId xmlns:a16="http://schemas.microsoft.com/office/drawing/2014/main" id="{3D576F41-D314-A3A9-32AB-6D718BBBC4F8}"/>
              </a:ext>
            </a:extLst>
          </p:cNvPr>
          <p:cNvCxnSpPr>
            <a:cxnSpLocks/>
          </p:cNvCxnSpPr>
          <p:nvPr/>
        </p:nvCxnSpPr>
        <p:spPr>
          <a:xfrm rot="5400000" flipH="1" flipV="1">
            <a:off x="6159872" y="5236046"/>
            <a:ext cx="896547" cy="491472"/>
          </a:xfrm>
          <a:prstGeom prst="curvedConnector3">
            <a:avLst>
              <a:gd name="adj1" fmla="val 57285"/>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A blue and white text on a blue background&#10;&#10;AI-generated content may be incorrect.">
            <a:extLst>
              <a:ext uri="{FF2B5EF4-FFF2-40B4-BE49-F238E27FC236}">
                <a16:creationId xmlns:a16="http://schemas.microsoft.com/office/drawing/2014/main" id="{96CA4FBD-DD90-F173-D6C8-CE113097379F}"/>
              </a:ext>
            </a:extLst>
          </p:cNvPr>
          <p:cNvPicPr>
            <a:picLocks noChangeAspect="1"/>
          </p:cNvPicPr>
          <p:nvPr/>
        </p:nvPicPr>
        <p:blipFill>
          <a:blip r:embed="rId9"/>
          <a:stretch>
            <a:fillRect/>
          </a:stretch>
        </p:blipFill>
        <p:spPr>
          <a:xfrm>
            <a:off x="1601137" y="1601642"/>
            <a:ext cx="2655357" cy="570636"/>
          </a:xfrm>
          <a:prstGeom prst="rect">
            <a:avLst/>
          </a:prstGeom>
        </p:spPr>
      </p:pic>
      <p:pic>
        <p:nvPicPr>
          <p:cNvPr id="3" name="Picture 2">
            <a:extLst>
              <a:ext uri="{FF2B5EF4-FFF2-40B4-BE49-F238E27FC236}">
                <a16:creationId xmlns:a16="http://schemas.microsoft.com/office/drawing/2014/main" id="{841E2B12-AF5B-680E-E64F-78A7FA3712B8}"/>
              </a:ext>
            </a:extLst>
          </p:cNvPr>
          <p:cNvPicPr>
            <a:picLocks noChangeAspect="1"/>
          </p:cNvPicPr>
          <p:nvPr/>
        </p:nvPicPr>
        <p:blipFill>
          <a:blip r:embed="rId10"/>
          <a:stretch>
            <a:fillRect/>
          </a:stretch>
        </p:blipFill>
        <p:spPr>
          <a:xfrm>
            <a:off x="195840" y="2755058"/>
            <a:ext cx="4059392" cy="318266"/>
          </a:xfrm>
          <a:prstGeom prst="rect">
            <a:avLst/>
          </a:prstGeom>
        </p:spPr>
      </p:pic>
      <p:sp>
        <p:nvSpPr>
          <p:cNvPr id="9" name="Rectangle 8">
            <a:extLst>
              <a:ext uri="{FF2B5EF4-FFF2-40B4-BE49-F238E27FC236}">
                <a16:creationId xmlns:a16="http://schemas.microsoft.com/office/drawing/2014/main" id="{CB9F1B85-97DB-2F6A-14C6-1BAD6DF6706F}"/>
              </a:ext>
            </a:extLst>
          </p:cNvPr>
          <p:cNvSpPr/>
          <p:nvPr/>
        </p:nvSpPr>
        <p:spPr>
          <a:xfrm>
            <a:off x="3312523" y="3295535"/>
            <a:ext cx="1608664" cy="787019"/>
          </a:xfrm>
          <a:prstGeom prst="rect">
            <a:avLst/>
          </a:prstGeom>
          <a:solidFill>
            <a:srgbClr val="FF0000"/>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AFCF18B-FCE7-F810-CC63-FB4E66C6A28E}"/>
              </a:ext>
            </a:extLst>
          </p:cNvPr>
          <p:cNvSpPr txBox="1"/>
          <p:nvPr/>
        </p:nvSpPr>
        <p:spPr>
          <a:xfrm>
            <a:off x="3329528" y="3366131"/>
            <a:ext cx="1608664" cy="646331"/>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Feature</a:t>
            </a:r>
          </a:p>
          <a:p>
            <a:pPr algn="ctr"/>
            <a:r>
              <a:rPr lang="en-US" altLang="zh-CN" dirty="0">
                <a:latin typeface="Arial" panose="020B0604020202020204" pitchFamily="34" charset="0"/>
                <a:cs typeface="Arial" panose="020B0604020202020204" pitchFamily="34" charset="0"/>
              </a:rPr>
              <a:t>Engineering</a:t>
            </a:r>
            <a:endParaRPr lang="en-US"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6323733-9C9A-31C2-238A-7F1367BDF2A6}"/>
              </a:ext>
            </a:extLst>
          </p:cNvPr>
          <p:cNvSpPr txBox="1"/>
          <p:nvPr/>
        </p:nvSpPr>
        <p:spPr>
          <a:xfrm>
            <a:off x="169418" y="2313092"/>
            <a:ext cx="6100762" cy="338554"/>
          </a:xfrm>
          <a:prstGeom prst="rect">
            <a:avLst/>
          </a:prstGeom>
          <a:noFill/>
        </p:spPr>
        <p:txBody>
          <a:bodyPr wrap="square">
            <a:spAutoFit/>
          </a:bodyPr>
          <a:lstStyle/>
          <a:p>
            <a:r>
              <a:rPr lang="en-US" altLang="zh-CN" sz="1600" b="0" i="0" u="none" strike="noStrike" dirty="0">
                <a:effectLst/>
                <a:latin typeface="Arial" panose="020B0604020202020204" pitchFamily="34" charset="0"/>
                <a:cs typeface="Arial" panose="020B0604020202020204" pitchFamily="34" charset="0"/>
              </a:rPr>
              <a:t>W</a:t>
            </a:r>
            <a:r>
              <a:rPr lang="en-US" sz="1600" b="0" i="0" u="none" strike="noStrike" dirty="0">
                <a:effectLst/>
                <a:latin typeface="Arial" panose="020B0604020202020204" pitchFamily="34" charset="0"/>
                <a:cs typeface="Arial" panose="020B0604020202020204" pitchFamily="34" charset="0"/>
              </a:rPr>
              <a:t>ind </a:t>
            </a:r>
            <a:r>
              <a:rPr lang="en-US" altLang="zh-CN" sz="1600" dirty="0">
                <a:latin typeface="Arial" panose="020B0604020202020204" pitchFamily="34" charset="0"/>
                <a:cs typeface="Arial" panose="020B0604020202020204" pitchFamily="34" charset="0"/>
              </a:rPr>
              <a:t>F</a:t>
            </a:r>
            <a:r>
              <a:rPr lang="en-US" sz="1600" b="0" i="0" u="none" strike="noStrike" dirty="0">
                <a:effectLst/>
                <a:latin typeface="Arial" panose="020B0604020202020204" pitchFamily="34" charset="0"/>
                <a:cs typeface="Arial" panose="020B0604020202020204" pitchFamily="34" charset="0"/>
              </a:rPr>
              <a:t>eature</a:t>
            </a:r>
            <a:r>
              <a:rPr lang="en-US" altLang="zh-CN" sz="1600" b="0" i="0" u="none" strike="noStrike" dirty="0">
                <a:effectLst/>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E601628B-C142-6F28-9391-B933514E73DD}"/>
              </a:ext>
            </a:extLst>
          </p:cNvPr>
          <p:cNvSpPr txBox="1"/>
          <p:nvPr/>
        </p:nvSpPr>
        <p:spPr>
          <a:xfrm>
            <a:off x="285013" y="1720063"/>
            <a:ext cx="6100762" cy="338554"/>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Discharge:</a:t>
            </a:r>
            <a:endParaRPr lang="en-US" sz="16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1CCEB8E1-A28D-F9D9-FE6E-3571B9C96E1D}"/>
              </a:ext>
            </a:extLst>
          </p:cNvPr>
          <p:cNvSpPr txBox="1"/>
          <p:nvPr/>
        </p:nvSpPr>
        <p:spPr>
          <a:xfrm>
            <a:off x="201596" y="946262"/>
            <a:ext cx="6100762" cy="338554"/>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Water</a:t>
            </a:r>
            <a:r>
              <a:rPr lang="zh-CN" altLang="en-US" sz="16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Quality</a:t>
            </a:r>
            <a:r>
              <a:rPr lang="zh-CN" altLang="en-US" sz="16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Data:</a:t>
            </a:r>
            <a:r>
              <a:rPr lang="zh-CN" altLang="en-US"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018ADCB4-BF4B-FA8A-66C9-3D1C56B326B0}"/>
              </a:ext>
            </a:extLst>
          </p:cNvPr>
          <p:cNvSpPr txBox="1"/>
          <p:nvPr/>
        </p:nvSpPr>
        <p:spPr>
          <a:xfrm>
            <a:off x="1601137" y="4159919"/>
            <a:ext cx="1414463" cy="369332"/>
          </a:xfrm>
          <a:prstGeom prst="rect">
            <a:avLst/>
          </a:prstGeom>
          <a:noFill/>
        </p:spPr>
        <p:txBody>
          <a:bodyPr wrap="square" rtlCol="0">
            <a:spAutoFit/>
          </a:bodyPr>
          <a:lstStyle/>
          <a:p>
            <a:r>
              <a:rPr lang="en-US" altLang="zh-CN" b="1" i="1" dirty="0"/>
              <a:t>Time</a:t>
            </a:r>
            <a:r>
              <a:rPr lang="zh-CN" altLang="en-US" b="1" i="1" dirty="0"/>
              <a:t> </a:t>
            </a:r>
            <a:r>
              <a:rPr lang="en-US" altLang="zh-CN" b="1" i="1" dirty="0"/>
              <a:t>Series</a:t>
            </a:r>
            <a:endParaRPr lang="en-US" b="1" i="1" dirty="0"/>
          </a:p>
        </p:txBody>
      </p:sp>
      <p:sp>
        <p:nvSpPr>
          <p:cNvPr id="33" name="TextBox 32">
            <a:extLst>
              <a:ext uri="{FF2B5EF4-FFF2-40B4-BE49-F238E27FC236}">
                <a16:creationId xmlns:a16="http://schemas.microsoft.com/office/drawing/2014/main" id="{24E135E3-96DD-340F-18AF-6C8B036541F4}"/>
              </a:ext>
            </a:extLst>
          </p:cNvPr>
          <p:cNvSpPr txBox="1"/>
          <p:nvPr/>
        </p:nvSpPr>
        <p:spPr>
          <a:xfrm>
            <a:off x="169418" y="4584489"/>
            <a:ext cx="3736137" cy="923330"/>
          </a:xfrm>
          <a:prstGeom prst="rect">
            <a:avLst/>
          </a:prstGeom>
          <a:noFill/>
        </p:spPr>
        <p:txBody>
          <a:bodyPr wrap="square" rtlCol="0">
            <a:spAutoFit/>
          </a:bodyPr>
          <a:lstStyle/>
          <a:p>
            <a:pPr algn="ctr"/>
            <a:r>
              <a:rPr lang="en-US" altLang="zh-CN" dirty="0"/>
              <a:t>For</a:t>
            </a:r>
            <a:r>
              <a:rPr lang="zh-CN" altLang="en-US" dirty="0"/>
              <a:t> </a:t>
            </a:r>
            <a:r>
              <a:rPr lang="en-US" altLang="zh-CN" dirty="0"/>
              <a:t>Gradient</a:t>
            </a:r>
            <a:r>
              <a:rPr lang="zh-CN" altLang="en-US" dirty="0"/>
              <a:t> </a:t>
            </a:r>
            <a:r>
              <a:rPr lang="en-US" altLang="zh-CN" dirty="0"/>
              <a:t>Boosting:</a:t>
            </a:r>
            <a:r>
              <a:rPr lang="zh-CN" altLang="en-US" dirty="0"/>
              <a:t>  </a:t>
            </a:r>
            <a:r>
              <a:rPr lang="en-US" altLang="zh-CN" dirty="0"/>
              <a:t>Add</a:t>
            </a:r>
            <a:r>
              <a:rPr lang="zh-CN" altLang="en-US" dirty="0"/>
              <a:t> </a:t>
            </a:r>
            <a:r>
              <a:rPr lang="en-US" altLang="zh-CN" dirty="0"/>
              <a:t>Lagged</a:t>
            </a:r>
            <a:r>
              <a:rPr lang="zh-CN" altLang="en-US" dirty="0"/>
              <a:t> </a:t>
            </a:r>
            <a:r>
              <a:rPr lang="en-US" altLang="zh-CN" dirty="0"/>
              <a:t>features,</a:t>
            </a:r>
            <a:r>
              <a:rPr lang="zh-CN" altLang="en-US" dirty="0"/>
              <a:t> </a:t>
            </a:r>
            <a:r>
              <a:rPr lang="en-US" altLang="zh-CN" dirty="0"/>
              <a:t>like</a:t>
            </a:r>
            <a:r>
              <a:rPr lang="zh-CN" altLang="en-US" dirty="0"/>
              <a:t> </a:t>
            </a:r>
            <a:r>
              <a:rPr lang="en-US" altLang="zh-CN" dirty="0"/>
              <a:t>accumulated</a:t>
            </a:r>
            <a:r>
              <a:rPr lang="zh-CN" altLang="en-US" dirty="0"/>
              <a:t> </a:t>
            </a:r>
            <a:r>
              <a:rPr lang="en-US" altLang="zh-CN" dirty="0"/>
              <a:t>discharge</a:t>
            </a:r>
            <a:r>
              <a:rPr lang="zh-CN" altLang="en-US" dirty="0"/>
              <a:t> </a:t>
            </a:r>
            <a:endParaRPr lang="en-US" dirty="0"/>
          </a:p>
        </p:txBody>
      </p:sp>
      <p:sp>
        <p:nvSpPr>
          <p:cNvPr id="35" name="TextBox 34">
            <a:extLst>
              <a:ext uri="{FF2B5EF4-FFF2-40B4-BE49-F238E27FC236}">
                <a16:creationId xmlns:a16="http://schemas.microsoft.com/office/drawing/2014/main" id="{F3F34AF2-F8BA-F898-FB13-C846274EA696}"/>
              </a:ext>
            </a:extLst>
          </p:cNvPr>
          <p:cNvSpPr txBox="1"/>
          <p:nvPr/>
        </p:nvSpPr>
        <p:spPr>
          <a:xfrm>
            <a:off x="-41554" y="5649251"/>
            <a:ext cx="4570668" cy="646331"/>
          </a:xfrm>
          <a:prstGeom prst="rect">
            <a:avLst/>
          </a:prstGeom>
          <a:noFill/>
        </p:spPr>
        <p:txBody>
          <a:bodyPr wrap="square" rtlCol="0">
            <a:spAutoFit/>
          </a:bodyPr>
          <a:lstStyle/>
          <a:p>
            <a:pPr algn="ctr"/>
            <a:r>
              <a:rPr lang="en-US" altLang="zh-CN" dirty="0"/>
              <a:t>Or</a:t>
            </a:r>
            <a:r>
              <a:rPr lang="zh-CN" altLang="en-US" dirty="0"/>
              <a:t> </a:t>
            </a:r>
            <a:r>
              <a:rPr lang="en-US" altLang="zh-CN" dirty="0"/>
              <a:t>LSTM: naturally</a:t>
            </a:r>
            <a:r>
              <a:rPr lang="zh-CN" altLang="en-US" dirty="0"/>
              <a:t> </a:t>
            </a:r>
            <a:r>
              <a:rPr lang="en-US" altLang="zh-CN" dirty="0"/>
              <a:t>captures</a:t>
            </a:r>
            <a:r>
              <a:rPr lang="zh-CN" altLang="en-US" dirty="0"/>
              <a:t> </a:t>
            </a:r>
            <a:r>
              <a:rPr lang="en-US" altLang="zh-CN" dirty="0"/>
              <a:t>the temporal</a:t>
            </a:r>
            <a:r>
              <a:rPr lang="zh-CN" altLang="en-US" dirty="0"/>
              <a:t> </a:t>
            </a:r>
            <a:r>
              <a:rPr lang="en-US" altLang="zh-CN" dirty="0"/>
              <a:t>relationships</a:t>
            </a:r>
            <a:endParaRPr lang="en-US" dirty="0"/>
          </a:p>
        </p:txBody>
      </p:sp>
      <p:pic>
        <p:nvPicPr>
          <p:cNvPr id="54" name="Picture 53" descr="A graph with blue dots and a red line&#10;&#10;AI-generated content may be incorrect.">
            <a:extLst>
              <a:ext uri="{FF2B5EF4-FFF2-40B4-BE49-F238E27FC236}">
                <a16:creationId xmlns:a16="http://schemas.microsoft.com/office/drawing/2014/main" id="{E0C6F2B5-3375-F84B-A086-8E1F1A9D8B60}"/>
              </a:ext>
            </a:extLst>
          </p:cNvPr>
          <p:cNvPicPr>
            <a:picLocks noChangeAspect="1"/>
          </p:cNvPicPr>
          <p:nvPr/>
        </p:nvPicPr>
        <p:blipFill>
          <a:blip r:embed="rId11"/>
          <a:stretch>
            <a:fillRect/>
          </a:stretch>
        </p:blipFill>
        <p:spPr>
          <a:xfrm>
            <a:off x="10104180" y="2165901"/>
            <a:ext cx="1812388" cy="1856450"/>
          </a:xfrm>
          <a:prstGeom prst="rect">
            <a:avLst/>
          </a:prstGeom>
        </p:spPr>
      </p:pic>
      <p:pic>
        <p:nvPicPr>
          <p:cNvPr id="64" name="Picture 63" descr="A diagram of a diagram&#10;&#10;AI-generated content may be incorrect.">
            <a:extLst>
              <a:ext uri="{FF2B5EF4-FFF2-40B4-BE49-F238E27FC236}">
                <a16:creationId xmlns:a16="http://schemas.microsoft.com/office/drawing/2014/main" id="{11409209-89AD-59A4-BA0B-2D1257B099CD}"/>
              </a:ext>
            </a:extLst>
          </p:cNvPr>
          <p:cNvPicPr>
            <a:picLocks noChangeAspect="1"/>
          </p:cNvPicPr>
          <p:nvPr/>
        </p:nvPicPr>
        <p:blipFill>
          <a:blip r:embed="rId12"/>
          <a:stretch>
            <a:fillRect/>
          </a:stretch>
        </p:blipFill>
        <p:spPr>
          <a:xfrm>
            <a:off x="7278442" y="5441780"/>
            <a:ext cx="2311900" cy="917543"/>
          </a:xfrm>
          <a:prstGeom prst="rect">
            <a:avLst/>
          </a:prstGeom>
        </p:spPr>
      </p:pic>
      <p:cxnSp>
        <p:nvCxnSpPr>
          <p:cNvPr id="69" name="Straight Connector 68">
            <a:extLst>
              <a:ext uri="{FF2B5EF4-FFF2-40B4-BE49-F238E27FC236}">
                <a16:creationId xmlns:a16="http://schemas.microsoft.com/office/drawing/2014/main" id="{5E466742-99BF-F2B8-3EE1-426FCF6430CA}"/>
              </a:ext>
            </a:extLst>
          </p:cNvPr>
          <p:cNvCxnSpPr>
            <a:cxnSpLocks/>
          </p:cNvCxnSpPr>
          <p:nvPr/>
        </p:nvCxnSpPr>
        <p:spPr>
          <a:xfrm>
            <a:off x="6869829" y="5046154"/>
            <a:ext cx="527286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76" name="Slide Number Placeholder 75">
            <a:extLst>
              <a:ext uri="{FF2B5EF4-FFF2-40B4-BE49-F238E27FC236}">
                <a16:creationId xmlns:a16="http://schemas.microsoft.com/office/drawing/2014/main" id="{A6425085-4418-AC5D-839F-40BE33A72518}"/>
              </a:ext>
            </a:extLst>
          </p:cNvPr>
          <p:cNvSpPr>
            <a:spLocks noGrp="1"/>
          </p:cNvSpPr>
          <p:nvPr>
            <p:ph type="sldNum" sz="quarter" idx="12"/>
          </p:nvPr>
        </p:nvSpPr>
        <p:spPr/>
        <p:txBody>
          <a:bodyPr/>
          <a:lstStyle/>
          <a:p>
            <a:fld id="{83863B2D-D332-084B-BF65-F0D9A30319D9}" type="slidenum">
              <a:rPr lang="en-US" smtClean="0"/>
              <a:t>11</a:t>
            </a:fld>
            <a:endParaRPr lang="en-US"/>
          </a:p>
        </p:txBody>
      </p:sp>
    </p:spTree>
    <p:extLst>
      <p:ext uri="{BB962C8B-B14F-4D97-AF65-F5344CB8AC3E}">
        <p14:creationId xmlns:p14="http://schemas.microsoft.com/office/powerpoint/2010/main" val="420574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E33631-A718-15C3-BB9A-5C57E9492BA6}"/>
              </a:ext>
            </a:extLst>
          </p:cNvPr>
          <p:cNvSpPr>
            <a:spLocks noGrp="1"/>
          </p:cNvSpPr>
          <p:nvPr>
            <p:ph type="sldNum" sz="quarter" idx="12"/>
          </p:nvPr>
        </p:nvSpPr>
        <p:spPr/>
        <p:txBody>
          <a:bodyPr/>
          <a:lstStyle/>
          <a:p>
            <a:fld id="{83863B2D-D332-084B-BF65-F0D9A30319D9}" type="slidenum">
              <a:rPr lang="en-US" smtClean="0"/>
              <a:t>12</a:t>
            </a:fld>
            <a:endParaRPr lang="en-US"/>
          </a:p>
        </p:txBody>
      </p:sp>
      <p:sp>
        <p:nvSpPr>
          <p:cNvPr id="5" name="TextBox 4">
            <a:extLst>
              <a:ext uri="{FF2B5EF4-FFF2-40B4-BE49-F238E27FC236}">
                <a16:creationId xmlns:a16="http://schemas.microsoft.com/office/drawing/2014/main" id="{119FF52A-35E7-8787-1BE0-ECC75EC86BDA}"/>
              </a:ext>
            </a:extLst>
          </p:cNvPr>
          <p:cNvSpPr txBox="1"/>
          <p:nvPr/>
        </p:nvSpPr>
        <p:spPr>
          <a:xfrm>
            <a:off x="117565" y="14022"/>
            <a:ext cx="10001955" cy="400110"/>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Advanced</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Tutorial </a:t>
            </a:r>
            <a:r>
              <a:rPr lang="en-US" altLang="zh-CN" sz="2000" b="1" dirty="0">
                <a:latin typeface="Arial" panose="020B0604020202020204" pitchFamily="34" charset="0"/>
                <a:cs typeface="Arial" panose="020B0604020202020204" pitchFamily="34" charset="0"/>
              </a:rPr>
              <a:t>2</a:t>
            </a:r>
            <a:r>
              <a:rPr lang="en-US" sz="2000" b="1" dirty="0">
                <a:latin typeface="Arial" panose="020B0604020202020204" pitchFamily="34" charset="0"/>
                <a:cs typeface="Arial" panose="020B0604020202020204" pitchFamily="34" charset="0"/>
              </a:rPr>
              <a:t>. Predict</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Future</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DO</a:t>
            </a:r>
            <a:r>
              <a:rPr lang="zh-CN" altLang="en-US" sz="2000" b="1" dirty="0">
                <a:latin typeface="Arial" panose="020B0604020202020204" pitchFamily="34" charset="0"/>
                <a:cs typeface="Arial" panose="020B0604020202020204" pitchFamily="34" charset="0"/>
              </a:rPr>
              <a:t> </a:t>
            </a:r>
            <a:endParaRPr lang="en-US" sz="20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62FC174-59B8-DC58-D06F-7C5C81CDBC7F}"/>
              </a:ext>
            </a:extLst>
          </p:cNvPr>
          <p:cNvSpPr txBox="1"/>
          <p:nvPr/>
        </p:nvSpPr>
        <p:spPr>
          <a:xfrm>
            <a:off x="117565" y="588228"/>
            <a:ext cx="11749315" cy="120032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What is Gradient Boosting Regression?</a:t>
            </a:r>
          </a:p>
          <a:p>
            <a:pPr>
              <a:buNone/>
            </a:pPr>
            <a:r>
              <a:rPr lang="en-US" dirty="0">
                <a:latin typeface="Arial" panose="020B0604020202020204" pitchFamily="34" charset="0"/>
                <a:cs typeface="Arial" panose="020B0604020202020204" pitchFamily="34" charset="0"/>
              </a:rPr>
              <a:t>Gradient Boosting is an </a:t>
            </a:r>
            <a:r>
              <a:rPr lang="en-US" b="1" dirty="0">
                <a:latin typeface="Arial" panose="020B0604020202020204" pitchFamily="34" charset="0"/>
                <a:cs typeface="Arial" panose="020B0604020202020204" pitchFamily="34" charset="0"/>
              </a:rPr>
              <a:t>ensemble learning method</a:t>
            </a:r>
            <a:r>
              <a:rPr lang="en-US" dirty="0">
                <a:latin typeface="Arial" panose="020B0604020202020204" pitchFamily="34" charset="0"/>
                <a:cs typeface="Arial" panose="020B0604020202020204" pitchFamily="34" charset="0"/>
              </a:rPr>
              <a:t> that builds a </a:t>
            </a:r>
            <a:r>
              <a:rPr lang="en-US" b="1" dirty="0">
                <a:latin typeface="Arial" panose="020B0604020202020204" pitchFamily="34" charset="0"/>
                <a:cs typeface="Arial" panose="020B0604020202020204" pitchFamily="34" charset="0"/>
              </a:rPr>
              <a:t>strong regressor</a:t>
            </a:r>
            <a:r>
              <a:rPr lang="en-US" dirty="0">
                <a:latin typeface="Arial" panose="020B0604020202020204" pitchFamily="34" charset="0"/>
                <a:cs typeface="Arial" panose="020B0604020202020204" pitchFamily="34" charset="0"/>
              </a:rPr>
              <a:t> by combining many </a:t>
            </a:r>
            <a:r>
              <a:rPr lang="en-US" b="1" dirty="0">
                <a:latin typeface="Arial" panose="020B0604020202020204" pitchFamily="34" charset="0"/>
                <a:cs typeface="Arial" panose="020B0604020202020204" pitchFamily="34" charset="0"/>
              </a:rPr>
              <a:t>weak learners</a:t>
            </a:r>
            <a:r>
              <a:rPr lang="en-US" dirty="0">
                <a:latin typeface="Arial" panose="020B0604020202020204" pitchFamily="34" charset="0"/>
                <a:cs typeface="Arial" panose="020B0604020202020204" pitchFamily="34" charset="0"/>
              </a:rPr>
              <a:t> (typically decision trees).</a:t>
            </a:r>
          </a:p>
          <a:p>
            <a:r>
              <a:rPr lang="en-US" dirty="0">
                <a:latin typeface="Arial" panose="020B0604020202020204" pitchFamily="34" charset="0"/>
                <a:cs typeface="Arial" panose="020B0604020202020204" pitchFamily="34" charset="0"/>
              </a:rPr>
              <a:t>The key idea: </a:t>
            </a:r>
            <a:r>
              <a:rPr lang="en-US" b="1" dirty="0">
                <a:latin typeface="Arial" panose="020B0604020202020204" pitchFamily="34" charset="0"/>
                <a:cs typeface="Arial" panose="020B0604020202020204" pitchFamily="34" charset="0"/>
              </a:rPr>
              <a:t>Each new tree corrects the errors made by the previous trees.</a:t>
            </a:r>
            <a:endParaRPr lang="en-US"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3DD330DC-9F60-F129-56E9-6EA73F0F8462}"/>
              </a:ext>
            </a:extLst>
          </p:cNvPr>
          <p:cNvSpPr txBox="1"/>
          <p:nvPr/>
        </p:nvSpPr>
        <p:spPr>
          <a:xfrm>
            <a:off x="117565" y="2028763"/>
            <a:ext cx="107696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Bagging (e.g., Random Forest): Train multiple models </a:t>
            </a:r>
            <a:r>
              <a:rPr lang="en-US" b="1" dirty="0">
                <a:latin typeface="Arial" panose="020B0604020202020204" pitchFamily="34" charset="0"/>
                <a:cs typeface="Arial" panose="020B0604020202020204" pitchFamily="34" charset="0"/>
              </a:rPr>
              <a:t>in parallel</a:t>
            </a:r>
            <a:r>
              <a:rPr lang="en-US" dirty="0">
                <a:latin typeface="Arial" panose="020B0604020202020204" pitchFamily="34" charset="0"/>
                <a:cs typeface="Arial" panose="020B0604020202020204" pitchFamily="34" charset="0"/>
              </a:rPr>
              <a:t> on different </a:t>
            </a:r>
            <a:r>
              <a:rPr lang="en-US" b="1" dirty="0">
                <a:latin typeface="Arial" panose="020B0604020202020204" pitchFamily="34" charset="0"/>
                <a:cs typeface="Arial" panose="020B0604020202020204" pitchFamily="34" charset="0"/>
              </a:rPr>
              <a:t>random subsets</a:t>
            </a:r>
            <a:r>
              <a:rPr lang="en-US" dirty="0">
                <a:latin typeface="Arial" panose="020B0604020202020204" pitchFamily="34" charset="0"/>
                <a:cs typeface="Arial" panose="020B0604020202020204" pitchFamily="34" charset="0"/>
              </a:rPr>
              <a:t> of data</a:t>
            </a:r>
          </a:p>
          <a:p>
            <a:endParaRPr lang="en-US" dirty="0"/>
          </a:p>
        </p:txBody>
      </p:sp>
      <p:sp>
        <p:nvSpPr>
          <p:cNvPr id="17" name="TextBox 16">
            <a:extLst>
              <a:ext uri="{FF2B5EF4-FFF2-40B4-BE49-F238E27FC236}">
                <a16:creationId xmlns:a16="http://schemas.microsoft.com/office/drawing/2014/main" id="{FDE38DE2-01B3-B0F5-B691-27526C76559D}"/>
              </a:ext>
            </a:extLst>
          </p:cNvPr>
          <p:cNvSpPr txBox="1"/>
          <p:nvPr/>
        </p:nvSpPr>
        <p:spPr>
          <a:xfrm>
            <a:off x="117565" y="2351928"/>
            <a:ext cx="123153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Boosting (e.g., Gradient Boosting): Train models </a:t>
            </a:r>
            <a:r>
              <a:rPr lang="en-US" b="1" dirty="0">
                <a:latin typeface="Arial" panose="020B0604020202020204" pitchFamily="34" charset="0"/>
                <a:cs typeface="Arial" panose="020B0604020202020204" pitchFamily="34" charset="0"/>
              </a:rPr>
              <a:t>sequentially</a:t>
            </a:r>
            <a:r>
              <a:rPr lang="en-US" dirty="0">
                <a:latin typeface="Arial" panose="020B0604020202020204" pitchFamily="34" charset="0"/>
                <a:cs typeface="Arial" panose="020B0604020202020204" pitchFamily="34" charset="0"/>
              </a:rPr>
              <a:t>, where each new model </a:t>
            </a:r>
            <a:r>
              <a:rPr lang="en-US" b="1" dirty="0">
                <a:latin typeface="Arial" panose="020B0604020202020204" pitchFamily="34" charset="0"/>
                <a:cs typeface="Arial" panose="020B0604020202020204" pitchFamily="34" charset="0"/>
              </a:rPr>
              <a:t>fixes the errors</a:t>
            </a:r>
            <a:r>
              <a:rPr lang="en-US" dirty="0">
                <a:latin typeface="Arial" panose="020B0604020202020204" pitchFamily="34" charset="0"/>
                <a:cs typeface="Arial" panose="020B0604020202020204" pitchFamily="34" charset="0"/>
              </a:rPr>
              <a:t> of the previous one</a:t>
            </a:r>
          </a:p>
        </p:txBody>
      </p:sp>
      <p:sp>
        <p:nvSpPr>
          <p:cNvPr id="19" name="TextBox 18">
            <a:extLst>
              <a:ext uri="{FF2B5EF4-FFF2-40B4-BE49-F238E27FC236}">
                <a16:creationId xmlns:a16="http://schemas.microsoft.com/office/drawing/2014/main" id="{732CDB55-F82B-9EF6-2EDA-410300641744}"/>
              </a:ext>
            </a:extLst>
          </p:cNvPr>
          <p:cNvSpPr txBox="1"/>
          <p:nvPr/>
        </p:nvSpPr>
        <p:spPr>
          <a:xfrm>
            <a:off x="117565" y="3217029"/>
            <a:ext cx="8395256" cy="3139321"/>
          </a:xfrm>
          <a:prstGeom prst="rect">
            <a:avLst/>
          </a:prstGeom>
          <a:noFill/>
        </p:spPr>
        <p:txBody>
          <a:bodyPr wrap="square">
            <a:spAutoFit/>
          </a:bodyPr>
          <a:lstStyle/>
          <a:p>
            <a:pPr marL="342900" indent="-342900">
              <a:buAutoNum type="arabicPeriod"/>
            </a:pPr>
            <a:r>
              <a:rPr lang="en-US" b="1" dirty="0">
                <a:latin typeface="Arial" panose="020B0604020202020204" pitchFamily="34" charset="0"/>
                <a:cs typeface="Arial" panose="020B0604020202020204" pitchFamily="34" charset="0"/>
              </a:rPr>
              <a:t>Start with a simple model</a:t>
            </a:r>
          </a:p>
          <a:p>
            <a:pPr marL="342900" indent="-342900">
              <a:buAutoNum type="arabicPeriod"/>
            </a:pPr>
            <a:r>
              <a:rPr lang="en-US" b="1" dirty="0">
                <a:latin typeface="Arial" panose="020B0604020202020204" pitchFamily="34" charset="0"/>
                <a:cs typeface="Arial" panose="020B0604020202020204" pitchFamily="34" charset="0"/>
              </a:rPr>
              <a:t>Compute residuals</a:t>
            </a:r>
          </a:p>
          <a:p>
            <a:pPr marL="342900" indent="-342900">
              <a:buFontTx/>
              <a:buAutoNum type="arabicPeriod"/>
            </a:pPr>
            <a:r>
              <a:rPr lang="en-US" b="1" dirty="0">
                <a:latin typeface="Arial" panose="020B0604020202020204" pitchFamily="34" charset="0"/>
                <a:cs typeface="Arial" panose="020B0604020202020204" pitchFamily="34" charset="0"/>
              </a:rPr>
              <a:t>Train a decision tree on these residuals</a:t>
            </a:r>
          </a:p>
          <a:p>
            <a:pPr marL="342900" indent="-342900">
              <a:buFontTx/>
              <a:buAutoNum type="arabicPeriod"/>
            </a:pPr>
            <a:r>
              <a:rPr lang="en-US" b="1" dirty="0">
                <a:latin typeface="Arial" panose="020B0604020202020204" pitchFamily="34" charset="0"/>
                <a:cs typeface="Arial" panose="020B0604020202020204" pitchFamily="34" charset="0"/>
              </a:rPr>
              <a:t>Update the model</a:t>
            </a:r>
          </a:p>
          <a:p>
            <a:pPr marL="342900" indent="-342900">
              <a:buFontTx/>
              <a:buAutoNum type="arabicPeriod"/>
            </a:pPr>
            <a:r>
              <a:rPr lang="en-US" b="1" dirty="0">
                <a:latin typeface="Arial" panose="020B0604020202020204" pitchFamily="34" charset="0"/>
                <a:cs typeface="Arial" panose="020B0604020202020204" pitchFamily="34" charset="0"/>
              </a:rPr>
              <a:t>Repeat steps 2–4</a:t>
            </a:r>
          </a:p>
          <a:p>
            <a:pPr marL="342900" indent="-342900">
              <a:buFontTx/>
              <a:buAutoNum type="arabicPeriod"/>
            </a:pPr>
            <a:r>
              <a:rPr lang="en-US" b="1" dirty="0">
                <a:latin typeface="Arial" panose="020B0604020202020204" pitchFamily="34" charset="0"/>
                <a:cs typeface="Arial" panose="020B0604020202020204" pitchFamily="34" charset="0"/>
              </a:rPr>
              <a:t>Final prediction: accumulation of all previous trees (total of all corrections)</a:t>
            </a:r>
          </a:p>
          <a:p>
            <a:pPr marL="342900" indent="-342900">
              <a:buFontTx/>
              <a:buAutoNum type="arabicPeriod"/>
            </a:pPr>
            <a:endParaRPr lang="en-US" dirty="0"/>
          </a:p>
          <a:p>
            <a:pPr marL="342900" indent="-342900">
              <a:buAutoNum type="arabicPeriod"/>
            </a:pPr>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342900" indent="-342900">
              <a:buAutoNum type="arabicPeriod"/>
            </a:pPr>
            <a:endParaRPr lang="en-US" dirty="0">
              <a:latin typeface="Arial" panose="020B0604020202020204" pitchFamily="34" charset="0"/>
              <a:cs typeface="Arial" panose="020B0604020202020204" pitchFamily="34" charset="0"/>
            </a:endParaRPr>
          </a:p>
        </p:txBody>
      </p:sp>
      <p:pic>
        <p:nvPicPr>
          <p:cNvPr id="30" name="Picture 29" descr="A diagram of a diagram&#10;&#10;AI-generated content may be incorrect.">
            <a:extLst>
              <a:ext uri="{FF2B5EF4-FFF2-40B4-BE49-F238E27FC236}">
                <a16:creationId xmlns:a16="http://schemas.microsoft.com/office/drawing/2014/main" id="{0986D10C-7B40-CDB4-360A-DB07EFE56BA7}"/>
              </a:ext>
            </a:extLst>
          </p:cNvPr>
          <p:cNvPicPr>
            <a:picLocks noChangeAspect="1"/>
          </p:cNvPicPr>
          <p:nvPr/>
        </p:nvPicPr>
        <p:blipFill>
          <a:blip r:embed="rId2"/>
          <a:stretch>
            <a:fillRect/>
          </a:stretch>
        </p:blipFill>
        <p:spPr>
          <a:xfrm>
            <a:off x="8279477" y="2915300"/>
            <a:ext cx="3680086" cy="2255422"/>
          </a:xfrm>
          <a:prstGeom prst="rect">
            <a:avLst/>
          </a:prstGeom>
        </p:spPr>
      </p:pic>
    </p:spTree>
    <p:extLst>
      <p:ext uri="{BB962C8B-B14F-4D97-AF65-F5344CB8AC3E}">
        <p14:creationId xmlns:p14="http://schemas.microsoft.com/office/powerpoint/2010/main" val="1349522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0F423B9-628E-BCD0-CE95-D286657A6F61}"/>
                  </a:ext>
                </a:extLst>
              </p:cNvPr>
              <p:cNvSpPr txBox="1"/>
              <p:nvPr/>
            </p:nvSpPr>
            <p:spPr>
              <a:xfrm>
                <a:off x="117565" y="414132"/>
                <a:ext cx="11769636" cy="701730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What is LSTM?</a:t>
                </a:r>
              </a:p>
              <a:p>
                <a:pPr>
                  <a:buNone/>
                </a:pPr>
                <a:r>
                  <a:rPr lang="en-US" dirty="0">
                    <a:latin typeface="Arial" panose="020B0604020202020204" pitchFamily="34" charset="0"/>
                    <a:cs typeface="Arial" panose="020B0604020202020204" pitchFamily="34" charset="0"/>
                  </a:rPr>
                  <a:t>LSTM is a special type of </a:t>
                </a:r>
                <a:r>
                  <a:rPr lang="en-US" b="1" dirty="0">
                    <a:latin typeface="Arial" panose="020B0604020202020204" pitchFamily="34" charset="0"/>
                    <a:cs typeface="Arial" panose="020B0604020202020204" pitchFamily="34" charset="0"/>
                  </a:rPr>
                  <a:t>Recurrent Neural Network (RNN)</a:t>
                </a:r>
                <a:r>
                  <a:rPr lang="en-US" dirty="0">
                    <a:latin typeface="Arial" panose="020B0604020202020204" pitchFamily="34" charset="0"/>
                    <a:cs typeface="Arial" panose="020B0604020202020204" pitchFamily="34" charset="0"/>
                  </a:rPr>
                  <a:t> designed to handle </a:t>
                </a:r>
                <a:r>
                  <a:rPr lang="en-US" b="1" dirty="0">
                    <a:latin typeface="Arial" panose="020B0604020202020204" pitchFamily="34" charset="0"/>
                    <a:cs typeface="Arial" panose="020B0604020202020204" pitchFamily="34" charset="0"/>
                  </a:rPr>
                  <a:t>sequential data, </a:t>
                </a:r>
                <a:r>
                  <a:rPr lang="en-US" dirty="0">
                    <a:latin typeface="Arial" panose="020B0604020202020204" pitchFamily="34" charset="0"/>
                    <a:cs typeface="Arial" panose="020B0604020202020204" pitchFamily="34" charset="0"/>
                  </a:rPr>
                  <a:t>like time series, text, or any data where </a:t>
                </a:r>
                <a:r>
                  <a:rPr lang="en-US" b="1" dirty="0">
                    <a:latin typeface="Arial" panose="020B0604020202020204" pitchFamily="34" charset="0"/>
                    <a:cs typeface="Arial" panose="020B0604020202020204" pitchFamily="34" charset="0"/>
                  </a:rPr>
                  <a:t>order matters</a:t>
                </a:r>
                <a:r>
                  <a:rPr lang="en-US" dirty="0">
                    <a:latin typeface="Arial" panose="020B0604020202020204" pitchFamily="34" charset="0"/>
                    <a:cs typeface="Arial" panose="020B0604020202020204" pitchFamily="34" charset="0"/>
                  </a:rPr>
                  <a:t>.</a:t>
                </a:r>
              </a:p>
              <a:p>
                <a:pPr>
                  <a:buNone/>
                </a:pPr>
                <a:endParaRPr lang="en-US" dirty="0">
                  <a:latin typeface="Arial" panose="020B0604020202020204" pitchFamily="34" charset="0"/>
                  <a:cs typeface="Arial" panose="020B0604020202020204" pitchFamily="34" charset="0"/>
                </a:endParaRPr>
              </a:p>
              <a:p>
                <a:pPr>
                  <a:buNone/>
                </a:pPr>
                <a:r>
                  <a:rPr lang="en-US" dirty="0"/>
                  <a:t>A regular neural network (like an MLP) sees only one input at a time and makes independent predictions, it can’t remember the past.</a:t>
                </a:r>
              </a:p>
              <a:p>
                <a:r>
                  <a:rPr lang="en-US" dirty="0"/>
                  <a:t>But </a:t>
                </a:r>
                <a:r>
                  <a:rPr lang="en-US" b="1" dirty="0"/>
                  <a:t>RNNs "remember"</a:t>
                </a:r>
                <a:r>
                  <a:rPr lang="en-US" dirty="0"/>
                  <a:t> previous inputs and use that memory to inform current predictions.</a:t>
                </a:r>
              </a:p>
              <a:p>
                <a:pPr>
                  <a:buNone/>
                </a:pPr>
                <a:endParaRPr lang="en-US" dirty="0">
                  <a:latin typeface="Arial" panose="020B0604020202020204" pitchFamily="34" charset="0"/>
                  <a:cs typeface="Arial" panose="020B0604020202020204" pitchFamily="34" charset="0"/>
                </a:endParaRPr>
              </a:p>
              <a:p>
                <a:r>
                  <a:rPr lang="en-US" dirty="0"/>
                  <a:t>An RNN processes a sequence step by step:</a:t>
                </a:r>
              </a:p>
              <a:p>
                <a:r>
                  <a:rPr lang="en-US" dirty="0"/>
                  <a:t>At each time step </a:t>
                </a:r>
                <a14:m>
                  <m:oMath xmlns:m="http://schemas.openxmlformats.org/officeDocument/2006/math">
                    <m:r>
                      <a:rPr lang="en-US" b="0" i="1" smtClean="0">
                        <a:latin typeface="Cambria Math" panose="02040503050406030204" pitchFamily="18" charset="0"/>
                      </a:rPr>
                      <m:t>𝑡</m:t>
                    </m:r>
                  </m:oMath>
                </a14:m>
                <a:r>
                  <a:rPr lang="en-US" dirty="0"/>
                  <a:t>, it takes as inputs:</a:t>
                </a:r>
              </a:p>
              <a:p>
                <a:pPr marL="285750" indent="-285750">
                  <a:buFont typeface="Arial" panose="020B0604020202020204" pitchFamily="34" charset="0"/>
                  <a:buChar char="•"/>
                </a:pPr>
                <a:r>
                  <a:rPr lang="en-US" dirty="0"/>
                  <a:t>Current input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endParaRPr lang="en-US" dirty="0"/>
              </a:p>
              <a:p>
                <a:pPr marL="285750" indent="-285750">
                  <a:buFont typeface="Arial" panose="020B0604020202020204" pitchFamily="34" charset="0"/>
                  <a:buChar char="•"/>
                </a:pPr>
                <a:r>
                  <a:rPr lang="en-US" dirty="0"/>
                  <a:t>Previous hidden state</a:t>
                </a:r>
                <a14:m>
                  <m:oMath xmlns:m="http://schemas.openxmlformats.org/officeDocument/2006/math">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endParaRPr lang="en-US" dirty="0">
                  <a:latin typeface="Arial" panose="020B0604020202020204" pitchFamily="34" charset="0"/>
                  <a:cs typeface="Arial" panose="020B0604020202020204" pitchFamily="34" charset="0"/>
                </a:endParaRPr>
              </a:p>
              <a:p>
                <a:pPr>
                  <a:buNone/>
                </a:pPr>
                <a:r>
                  <a:rPr lang="en-US" dirty="0"/>
                  <a:t>And computes:</a:t>
                </a:r>
                <a:endParaRPr lang="en-US" dirty="0">
                  <a:latin typeface="Arial" panose="020B0604020202020204" pitchFamily="34" charset="0"/>
                  <a:cs typeface="Arial" panose="020B0604020202020204" pitchFamily="34" charset="0"/>
                </a:endParaRPr>
              </a:p>
              <a:p>
                <a:r>
                  <a:rPr lang="en-US" dirty="0"/>
                  <a:t>It new hidden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sub>
                    </m:sSub>
                  </m:oMath>
                </a14:m>
                <a:r>
                  <a:rPr lang="en-US" dirty="0"/>
                  <a:t>, which can be used for prediction or passed to the next step. So the </a:t>
                </a:r>
                <a:r>
                  <a:rPr lang="en-US" b="1" dirty="0"/>
                  <a:t>hidden state</a:t>
                </a:r>
                <a:r>
                  <a:rPr lang="en-US" dirty="0"/>
                  <a:t> acts like a "memory" of the sequence so far.</a:t>
                </a:r>
              </a:p>
              <a:p>
                <a:pPr>
                  <a:buNone/>
                </a:pPr>
                <a:endParaRPr lang="en-US"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Standard RNNs struggle with:</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Long-term dependencies</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b="1" dirty="0">
                    <a:latin typeface="Arial" panose="020B0604020202020204" pitchFamily="34" charset="0"/>
                    <a:cs typeface="Arial" panose="020B0604020202020204" pitchFamily="34" charset="0"/>
                  </a:rPr>
                  <a:t>Vanishing/exploding gradients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LSTM solves this by introducing </a:t>
                </a:r>
                <a:r>
                  <a:rPr lang="en-US" b="1" dirty="0">
                    <a:latin typeface="Arial" panose="020B0604020202020204" pitchFamily="34" charset="0"/>
                    <a:cs typeface="Arial" panose="020B0604020202020204" pitchFamily="34" charset="0"/>
                  </a:rPr>
                  <a:t>a memory cell</a:t>
                </a:r>
                <a:r>
                  <a:rPr lang="en-US" dirty="0">
                    <a:latin typeface="Arial" panose="020B0604020202020204" pitchFamily="34" charset="0"/>
                    <a:cs typeface="Arial" panose="020B0604020202020204" pitchFamily="34" charset="0"/>
                  </a:rPr>
                  <a:t> that can </a:t>
                </a:r>
                <a:r>
                  <a:rPr lang="en-US" b="1" dirty="0">
                    <a:latin typeface="Arial" panose="020B0604020202020204" pitchFamily="34" charset="0"/>
                    <a:cs typeface="Arial" panose="020B0604020202020204" pitchFamily="34" charset="0"/>
                  </a:rPr>
                  <a:t>carry information across many time steps</a:t>
                </a:r>
                <a:r>
                  <a:rPr lang="en-US" dirty="0">
                    <a:latin typeface="Arial" panose="020B0604020202020204" pitchFamily="34" charset="0"/>
                    <a:cs typeface="Arial" panose="020B0604020202020204" pitchFamily="34" charset="0"/>
                  </a:rPr>
                  <a:t>, and special </a:t>
                </a:r>
                <a:r>
                  <a:rPr lang="en-US" b="1" dirty="0">
                    <a:latin typeface="Arial" panose="020B0604020202020204" pitchFamily="34" charset="0"/>
                    <a:cs typeface="Arial" panose="020B0604020202020204" pitchFamily="34" charset="0"/>
                  </a:rPr>
                  <a:t>gates</a:t>
                </a:r>
                <a:r>
                  <a:rPr lang="en-US" dirty="0">
                    <a:latin typeface="Arial" panose="020B0604020202020204" pitchFamily="34" charset="0"/>
                    <a:cs typeface="Arial" panose="020B0604020202020204" pitchFamily="34" charset="0"/>
                  </a:rPr>
                  <a:t> to control what to keep and what to forget.</a:t>
                </a:r>
              </a:p>
              <a:p>
                <a:pPr>
                  <a:buNone/>
                </a:pPr>
                <a:endParaRPr lang="en-US" dirty="0">
                  <a:latin typeface="Arial" panose="020B0604020202020204" pitchFamily="34" charset="0"/>
                  <a:cs typeface="Arial" panose="020B0604020202020204" pitchFamily="34" charset="0"/>
                </a:endParaRPr>
              </a:p>
              <a:p>
                <a:pPr>
                  <a:buNone/>
                </a:pPr>
                <a:endParaRPr lang="en-US" dirty="0">
                  <a:latin typeface="Arial" panose="020B0604020202020204" pitchFamily="34" charset="0"/>
                  <a:cs typeface="Arial" panose="020B0604020202020204" pitchFamily="34" charset="0"/>
                </a:endParaRPr>
              </a:p>
              <a:p>
                <a:pPr>
                  <a:buNone/>
                </a:pPr>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0F423B9-628E-BCD0-CE95-D286657A6F61}"/>
                  </a:ext>
                </a:extLst>
              </p:cNvPr>
              <p:cNvSpPr txBox="1">
                <a:spLocks noRot="1" noChangeAspect="1" noMove="1" noResize="1" noEditPoints="1" noAdjustHandles="1" noChangeArrowheads="1" noChangeShapeType="1" noTextEdit="1"/>
              </p:cNvSpPr>
              <p:nvPr/>
            </p:nvSpPr>
            <p:spPr>
              <a:xfrm>
                <a:off x="117565" y="414132"/>
                <a:ext cx="11769636" cy="7017306"/>
              </a:xfrm>
              <a:prstGeom prst="rect">
                <a:avLst/>
              </a:prstGeom>
              <a:blipFill>
                <a:blip r:embed="rId3"/>
                <a:stretch>
                  <a:fillRect l="-431" t="-361" r="-75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BFCC49E-3227-BEFD-781C-29220777C1E1}"/>
              </a:ext>
            </a:extLst>
          </p:cNvPr>
          <p:cNvSpPr>
            <a:spLocks noGrp="1"/>
          </p:cNvSpPr>
          <p:nvPr>
            <p:ph type="sldNum" sz="quarter" idx="12"/>
          </p:nvPr>
        </p:nvSpPr>
        <p:spPr/>
        <p:txBody>
          <a:bodyPr/>
          <a:lstStyle/>
          <a:p>
            <a:fld id="{83863B2D-D332-084B-BF65-F0D9A30319D9}" type="slidenum">
              <a:rPr lang="en-US" smtClean="0"/>
              <a:t>13</a:t>
            </a:fld>
            <a:endParaRPr lang="en-US"/>
          </a:p>
        </p:txBody>
      </p:sp>
      <p:sp>
        <p:nvSpPr>
          <p:cNvPr id="5" name="TextBox 4">
            <a:extLst>
              <a:ext uri="{FF2B5EF4-FFF2-40B4-BE49-F238E27FC236}">
                <a16:creationId xmlns:a16="http://schemas.microsoft.com/office/drawing/2014/main" id="{ECC38484-36E7-EFC6-E48B-8985A6A64224}"/>
              </a:ext>
            </a:extLst>
          </p:cNvPr>
          <p:cNvSpPr txBox="1"/>
          <p:nvPr/>
        </p:nvSpPr>
        <p:spPr>
          <a:xfrm>
            <a:off x="117565" y="14022"/>
            <a:ext cx="10001955" cy="400110"/>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Advanced</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Tutorial </a:t>
            </a:r>
            <a:r>
              <a:rPr lang="en-US" altLang="zh-CN" sz="2000" b="1" dirty="0">
                <a:latin typeface="Arial" panose="020B0604020202020204" pitchFamily="34" charset="0"/>
                <a:cs typeface="Arial" panose="020B0604020202020204" pitchFamily="34" charset="0"/>
              </a:rPr>
              <a:t>2</a:t>
            </a:r>
            <a:r>
              <a:rPr lang="en-US" sz="2000" b="1" dirty="0">
                <a:latin typeface="Arial" panose="020B0604020202020204" pitchFamily="34" charset="0"/>
                <a:cs typeface="Arial" panose="020B0604020202020204" pitchFamily="34" charset="0"/>
              </a:rPr>
              <a:t>. Predict</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Future</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DO</a:t>
            </a:r>
            <a:r>
              <a:rPr lang="zh-CN" altLang="en-US" sz="2000" b="1" dirty="0">
                <a:latin typeface="Arial" panose="020B0604020202020204" pitchFamily="34" charset="0"/>
                <a:cs typeface="Arial" panose="020B0604020202020204" pitchFamily="34" charset="0"/>
              </a:rPr>
              <a:t> </a:t>
            </a:r>
            <a:endParaRPr lang="en-US" sz="2000" b="1" dirty="0">
              <a:latin typeface="Arial" panose="020B0604020202020204" pitchFamily="34" charset="0"/>
              <a:cs typeface="Arial" panose="020B0604020202020204" pitchFamily="34" charset="0"/>
            </a:endParaRPr>
          </a:p>
        </p:txBody>
      </p:sp>
      <p:pic>
        <p:nvPicPr>
          <p:cNvPr id="6" name="Picture 5" descr="A diagram of a diagram&#10;&#10;AI-generated content may be incorrect.">
            <a:extLst>
              <a:ext uri="{FF2B5EF4-FFF2-40B4-BE49-F238E27FC236}">
                <a16:creationId xmlns:a16="http://schemas.microsoft.com/office/drawing/2014/main" id="{5812F524-7DCD-0EF6-6A71-40D045E67CE0}"/>
              </a:ext>
            </a:extLst>
          </p:cNvPr>
          <p:cNvPicPr>
            <a:picLocks noChangeAspect="1"/>
          </p:cNvPicPr>
          <p:nvPr/>
        </p:nvPicPr>
        <p:blipFill>
          <a:blip r:embed="rId4"/>
          <a:stretch>
            <a:fillRect/>
          </a:stretch>
        </p:blipFill>
        <p:spPr>
          <a:xfrm>
            <a:off x="7940208" y="4421670"/>
            <a:ext cx="3526881" cy="1399743"/>
          </a:xfrm>
          <a:prstGeom prst="rect">
            <a:avLst/>
          </a:prstGeom>
        </p:spPr>
      </p:pic>
    </p:spTree>
    <p:extLst>
      <p:ext uri="{BB962C8B-B14F-4D97-AF65-F5344CB8AC3E}">
        <p14:creationId xmlns:p14="http://schemas.microsoft.com/office/powerpoint/2010/main" val="238833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5B97C-BD0D-B9F7-4E51-6D3469B68408}"/>
            </a:ext>
          </a:extLst>
        </p:cNvPr>
        <p:cNvGrpSpPr/>
        <p:nvPr/>
      </p:nvGrpSpPr>
      <p:grpSpPr>
        <a:xfrm>
          <a:off x="0" y="0"/>
          <a:ext cx="0" cy="0"/>
          <a:chOff x="0" y="0"/>
          <a:chExt cx="0" cy="0"/>
        </a:xfrm>
      </p:grpSpPr>
      <p:sp>
        <p:nvSpPr>
          <p:cNvPr id="96" name="Up-Down Arrow 95">
            <a:extLst>
              <a:ext uri="{FF2B5EF4-FFF2-40B4-BE49-F238E27FC236}">
                <a16:creationId xmlns:a16="http://schemas.microsoft.com/office/drawing/2014/main" id="{7F6F74BC-0FE5-953F-F285-913B02F611BC}"/>
              </a:ext>
            </a:extLst>
          </p:cNvPr>
          <p:cNvSpPr/>
          <p:nvPr/>
        </p:nvSpPr>
        <p:spPr>
          <a:xfrm>
            <a:off x="6285526" y="4262225"/>
            <a:ext cx="417583" cy="787019"/>
          </a:xfrm>
          <a:prstGeom prst="upDownArrow">
            <a:avLst/>
          </a:prstGeom>
          <a:pattFill prst="ltHorz">
            <a:fgClr>
              <a:schemeClr val="bg1"/>
            </a:fgClr>
            <a:bgClr>
              <a:schemeClr val="bg2">
                <a:lumMod val="90000"/>
              </a:schemeClr>
            </a:bgClr>
          </a:pattFill>
          <a:ln>
            <a:noFill/>
            <a:prstDash val="solid"/>
            <a:extLst>
              <a:ext uri="{C807C97D-BFC1-408E-A445-0C87EB9F89A2}">
                <ask:lineSketchStyleProps xmlns:ask="http://schemas.microsoft.com/office/drawing/2018/sketchyshapes" sd="1219033472">
                  <a:custGeom>
                    <a:avLst/>
                    <a:gdLst>
                      <a:gd name="connsiteX0" fmla="*/ 0 w 252355"/>
                      <a:gd name="connsiteY0" fmla="*/ 126178 h 715833"/>
                      <a:gd name="connsiteX1" fmla="*/ 126178 w 252355"/>
                      <a:gd name="connsiteY1" fmla="*/ 0 h 715833"/>
                      <a:gd name="connsiteX2" fmla="*/ 252355 w 252355"/>
                      <a:gd name="connsiteY2" fmla="*/ 126178 h 715833"/>
                      <a:gd name="connsiteX3" fmla="*/ 189266 w 252355"/>
                      <a:gd name="connsiteY3" fmla="*/ 126178 h 715833"/>
                      <a:gd name="connsiteX4" fmla="*/ 189266 w 252355"/>
                      <a:gd name="connsiteY4" fmla="*/ 589656 h 715833"/>
                      <a:gd name="connsiteX5" fmla="*/ 252355 w 252355"/>
                      <a:gd name="connsiteY5" fmla="*/ 589656 h 715833"/>
                      <a:gd name="connsiteX6" fmla="*/ 126178 w 252355"/>
                      <a:gd name="connsiteY6" fmla="*/ 715833 h 715833"/>
                      <a:gd name="connsiteX7" fmla="*/ 0 w 252355"/>
                      <a:gd name="connsiteY7" fmla="*/ 589656 h 715833"/>
                      <a:gd name="connsiteX8" fmla="*/ 63089 w 252355"/>
                      <a:gd name="connsiteY8" fmla="*/ 589656 h 715833"/>
                      <a:gd name="connsiteX9" fmla="*/ 63089 w 252355"/>
                      <a:gd name="connsiteY9" fmla="*/ 126178 h 715833"/>
                      <a:gd name="connsiteX10" fmla="*/ 0 w 252355"/>
                      <a:gd name="connsiteY10" fmla="*/ 126178 h 71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355" h="715833" fill="none" extrusionOk="0">
                        <a:moveTo>
                          <a:pt x="0" y="126178"/>
                        </a:moveTo>
                        <a:cubicBezTo>
                          <a:pt x="18894" y="101053"/>
                          <a:pt x="72486" y="65975"/>
                          <a:pt x="126178" y="0"/>
                        </a:cubicBezTo>
                        <a:cubicBezTo>
                          <a:pt x="162219" y="30467"/>
                          <a:pt x="221987" y="110270"/>
                          <a:pt x="252355" y="126178"/>
                        </a:cubicBezTo>
                        <a:cubicBezTo>
                          <a:pt x="241033" y="130503"/>
                          <a:pt x="220693" y="129067"/>
                          <a:pt x="189266" y="126178"/>
                        </a:cubicBezTo>
                        <a:cubicBezTo>
                          <a:pt x="171132" y="294961"/>
                          <a:pt x="189406" y="462714"/>
                          <a:pt x="189266" y="589656"/>
                        </a:cubicBezTo>
                        <a:cubicBezTo>
                          <a:pt x="196685" y="588389"/>
                          <a:pt x="243114" y="588565"/>
                          <a:pt x="252355" y="589656"/>
                        </a:cubicBezTo>
                        <a:cubicBezTo>
                          <a:pt x="220668" y="636871"/>
                          <a:pt x="163504" y="683321"/>
                          <a:pt x="126178" y="715833"/>
                        </a:cubicBezTo>
                        <a:cubicBezTo>
                          <a:pt x="82731" y="687289"/>
                          <a:pt x="45051" y="612162"/>
                          <a:pt x="0" y="589656"/>
                        </a:cubicBezTo>
                        <a:cubicBezTo>
                          <a:pt x="22038" y="592917"/>
                          <a:pt x="51992" y="588023"/>
                          <a:pt x="63089" y="589656"/>
                        </a:cubicBezTo>
                        <a:cubicBezTo>
                          <a:pt x="83565" y="540680"/>
                          <a:pt x="42763" y="223211"/>
                          <a:pt x="63089" y="126178"/>
                        </a:cubicBezTo>
                        <a:cubicBezTo>
                          <a:pt x="46023" y="120924"/>
                          <a:pt x="18273" y="128969"/>
                          <a:pt x="0" y="126178"/>
                        </a:cubicBezTo>
                        <a:close/>
                      </a:path>
                      <a:path w="252355" h="715833" stroke="0" extrusionOk="0">
                        <a:moveTo>
                          <a:pt x="0" y="126178"/>
                        </a:moveTo>
                        <a:cubicBezTo>
                          <a:pt x="50869" y="91841"/>
                          <a:pt x="113208" y="30290"/>
                          <a:pt x="126178" y="0"/>
                        </a:cubicBezTo>
                        <a:cubicBezTo>
                          <a:pt x="182198" y="50057"/>
                          <a:pt x="238263" y="113203"/>
                          <a:pt x="252355" y="126178"/>
                        </a:cubicBezTo>
                        <a:cubicBezTo>
                          <a:pt x="232176" y="128460"/>
                          <a:pt x="214004" y="129949"/>
                          <a:pt x="189266" y="126178"/>
                        </a:cubicBezTo>
                        <a:cubicBezTo>
                          <a:pt x="219699" y="178330"/>
                          <a:pt x="155041" y="463415"/>
                          <a:pt x="189266" y="589656"/>
                        </a:cubicBezTo>
                        <a:cubicBezTo>
                          <a:pt x="216256" y="587662"/>
                          <a:pt x="220871" y="591281"/>
                          <a:pt x="252355" y="589656"/>
                        </a:cubicBezTo>
                        <a:cubicBezTo>
                          <a:pt x="237115" y="619749"/>
                          <a:pt x="171365" y="658826"/>
                          <a:pt x="126178" y="715833"/>
                        </a:cubicBezTo>
                        <a:cubicBezTo>
                          <a:pt x="90864" y="675576"/>
                          <a:pt x="63594" y="640282"/>
                          <a:pt x="0" y="589656"/>
                        </a:cubicBezTo>
                        <a:cubicBezTo>
                          <a:pt x="30920" y="585758"/>
                          <a:pt x="49313" y="595302"/>
                          <a:pt x="63089" y="589656"/>
                        </a:cubicBezTo>
                        <a:cubicBezTo>
                          <a:pt x="35112" y="429300"/>
                          <a:pt x="101001" y="322874"/>
                          <a:pt x="63089" y="126178"/>
                        </a:cubicBezTo>
                        <a:cubicBezTo>
                          <a:pt x="50894" y="129667"/>
                          <a:pt x="21314" y="129575"/>
                          <a:pt x="0" y="126178"/>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DDC9E1-84BE-6046-86B2-C74E5F421D7C}"/>
              </a:ext>
            </a:extLst>
          </p:cNvPr>
          <p:cNvSpPr/>
          <p:nvPr/>
        </p:nvSpPr>
        <p:spPr>
          <a:xfrm>
            <a:off x="4680690" y="3745167"/>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7CBD388-D7F5-300C-14BC-A2B5660FDD70}"/>
              </a:ext>
            </a:extLst>
          </p:cNvPr>
          <p:cNvSpPr/>
          <p:nvPr/>
        </p:nvSpPr>
        <p:spPr>
          <a:xfrm>
            <a:off x="4666896" y="2648130"/>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77EA371-6A17-FB7F-A584-8A6E73EAC557}"/>
              </a:ext>
            </a:extLst>
          </p:cNvPr>
          <p:cNvSpPr/>
          <p:nvPr/>
        </p:nvSpPr>
        <p:spPr>
          <a:xfrm>
            <a:off x="4680690" y="1555579"/>
            <a:ext cx="1504245" cy="787019"/>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AA2D3DD-CDA5-57F0-62FB-966606729DE1}"/>
              </a:ext>
            </a:extLst>
          </p:cNvPr>
          <p:cNvSpPr txBox="1"/>
          <p:nvPr/>
        </p:nvSpPr>
        <p:spPr>
          <a:xfrm>
            <a:off x="0" y="2038"/>
            <a:ext cx="13970000" cy="707886"/>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Advanced</a:t>
            </a:r>
            <a:r>
              <a:rPr lang="zh-CN" altLang="en-US" sz="20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Tutorial 3. Predict Chlorophyll-a</a:t>
            </a:r>
            <a:r>
              <a:rPr lang="en-US" dirty="0"/>
              <a:t> </a:t>
            </a:r>
            <a:r>
              <a:rPr lang="en-US" sz="2000" b="1" dirty="0">
                <a:latin typeface="Arial" panose="020B0604020202020204" pitchFamily="34" charset="0"/>
                <a:cs typeface="Arial" panose="020B0604020202020204" pitchFamily="34" charset="0"/>
              </a:rPr>
              <a:t>from Sentinel-3 OLCI at Chesapeake Bay</a:t>
            </a:r>
          </a:p>
          <a:p>
            <a:r>
              <a:rPr lang="en-US" sz="2000" b="1" dirty="0">
                <a:latin typeface="Arial" panose="020B0604020202020204" pitchFamily="34" charset="0"/>
                <a:cs typeface="Arial" panose="020B0604020202020204" pitchFamily="34" charset="0"/>
              </a:rPr>
              <a:t> </a:t>
            </a:r>
          </a:p>
        </p:txBody>
      </p:sp>
      <p:sp>
        <p:nvSpPr>
          <p:cNvPr id="5" name="Rectangle 4">
            <a:extLst>
              <a:ext uri="{FF2B5EF4-FFF2-40B4-BE49-F238E27FC236}">
                <a16:creationId xmlns:a16="http://schemas.microsoft.com/office/drawing/2014/main" id="{55278014-B8C0-1505-240A-8C8CB141F4BF}"/>
              </a:ext>
            </a:extLst>
          </p:cNvPr>
          <p:cNvSpPr/>
          <p:nvPr/>
        </p:nvSpPr>
        <p:spPr>
          <a:xfrm>
            <a:off x="4680692" y="475390"/>
            <a:ext cx="1504245" cy="787019"/>
          </a:xfrm>
          <a:prstGeom prst="rect">
            <a:avLst/>
          </a:prstGeom>
          <a:solidFill>
            <a:schemeClr val="accent1">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7041D88-2538-369E-32B2-0624FA3C857E}"/>
              </a:ext>
            </a:extLst>
          </p:cNvPr>
          <p:cNvSpPr txBox="1"/>
          <p:nvPr/>
        </p:nvSpPr>
        <p:spPr>
          <a:xfrm>
            <a:off x="4637649" y="672423"/>
            <a:ext cx="160584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Measurement</a:t>
            </a:r>
          </a:p>
        </p:txBody>
      </p:sp>
      <p:sp>
        <p:nvSpPr>
          <p:cNvPr id="7" name="TextBox 6">
            <a:extLst>
              <a:ext uri="{FF2B5EF4-FFF2-40B4-BE49-F238E27FC236}">
                <a16:creationId xmlns:a16="http://schemas.microsoft.com/office/drawing/2014/main" id="{89D86506-A3C5-C30E-7AAE-D4C1F2A7597A}"/>
              </a:ext>
            </a:extLst>
          </p:cNvPr>
          <p:cNvSpPr txBox="1"/>
          <p:nvPr/>
        </p:nvSpPr>
        <p:spPr>
          <a:xfrm>
            <a:off x="4847652" y="1619010"/>
            <a:ext cx="115005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Retrieval</a:t>
            </a:r>
          </a:p>
        </p:txBody>
      </p:sp>
      <p:pic>
        <p:nvPicPr>
          <p:cNvPr id="10" name="Picture 9" descr="A logo with a yellow circle and white text&#10;&#10;AI-generated content may be incorrect.">
            <a:extLst>
              <a:ext uri="{FF2B5EF4-FFF2-40B4-BE49-F238E27FC236}">
                <a16:creationId xmlns:a16="http://schemas.microsoft.com/office/drawing/2014/main" id="{FEF70ECD-D613-B674-84D3-B87EC99CCC7F}"/>
              </a:ext>
            </a:extLst>
          </p:cNvPr>
          <p:cNvPicPr>
            <a:picLocks noChangeAspect="1"/>
          </p:cNvPicPr>
          <p:nvPr/>
        </p:nvPicPr>
        <p:blipFill>
          <a:blip r:embed="rId3"/>
          <a:stretch>
            <a:fillRect/>
          </a:stretch>
        </p:blipFill>
        <p:spPr>
          <a:xfrm>
            <a:off x="2278547" y="847075"/>
            <a:ext cx="1682045" cy="627357"/>
          </a:xfrm>
          <a:prstGeom prst="rect">
            <a:avLst/>
          </a:prstGeom>
        </p:spPr>
      </p:pic>
      <p:sp>
        <p:nvSpPr>
          <p:cNvPr id="17" name="TextBox 16">
            <a:extLst>
              <a:ext uri="{FF2B5EF4-FFF2-40B4-BE49-F238E27FC236}">
                <a16:creationId xmlns:a16="http://schemas.microsoft.com/office/drawing/2014/main" id="{E70371F7-13B3-A532-2CD3-F2A4AA2E7944}"/>
              </a:ext>
            </a:extLst>
          </p:cNvPr>
          <p:cNvSpPr txBox="1"/>
          <p:nvPr/>
        </p:nvSpPr>
        <p:spPr>
          <a:xfrm>
            <a:off x="4758687" y="2719800"/>
            <a:ext cx="1343378"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Cleaning</a:t>
            </a:r>
          </a:p>
        </p:txBody>
      </p:sp>
      <p:sp>
        <p:nvSpPr>
          <p:cNvPr id="18" name="TextBox 17">
            <a:extLst>
              <a:ext uri="{FF2B5EF4-FFF2-40B4-BE49-F238E27FC236}">
                <a16:creationId xmlns:a16="http://schemas.microsoft.com/office/drawing/2014/main" id="{17E3A170-9AFF-DD56-7AA7-564F20F1978C}"/>
              </a:ext>
            </a:extLst>
          </p:cNvPr>
          <p:cNvSpPr txBox="1"/>
          <p:nvPr/>
        </p:nvSpPr>
        <p:spPr>
          <a:xfrm>
            <a:off x="4531111" y="3815510"/>
            <a:ext cx="1907822" cy="646331"/>
          </a:xfrm>
          <a:prstGeom prst="rect">
            <a:avLst/>
          </a:prstGeom>
          <a:noFill/>
        </p:spPr>
        <p:txBody>
          <a:bodyPr wrap="square" rtlCol="0">
            <a:spAutoFit/>
          </a:bodyPr>
          <a:lstStyle/>
          <a:p>
            <a:pPr algn="ctr"/>
            <a:r>
              <a:rPr lang="en-US" dirty="0"/>
              <a:t>Data Reconstruction</a:t>
            </a:r>
          </a:p>
        </p:txBody>
      </p:sp>
      <p:sp>
        <p:nvSpPr>
          <p:cNvPr id="23" name="Rectangle 22">
            <a:extLst>
              <a:ext uri="{FF2B5EF4-FFF2-40B4-BE49-F238E27FC236}">
                <a16:creationId xmlns:a16="http://schemas.microsoft.com/office/drawing/2014/main" id="{CB521F12-A93C-1722-C9DB-876C34A774D8}"/>
              </a:ext>
            </a:extLst>
          </p:cNvPr>
          <p:cNvSpPr/>
          <p:nvPr/>
        </p:nvSpPr>
        <p:spPr>
          <a:xfrm>
            <a:off x="4666896" y="4906379"/>
            <a:ext cx="1608664" cy="787019"/>
          </a:xfrm>
          <a:prstGeom prst="rect">
            <a:avLst/>
          </a:prstGeom>
          <a:solidFill>
            <a:schemeClr val="bg2">
              <a:lumMod val="75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E204C3B-5E55-F972-2F61-593955B3BE26}"/>
              </a:ext>
            </a:extLst>
          </p:cNvPr>
          <p:cNvSpPr txBox="1"/>
          <p:nvPr/>
        </p:nvSpPr>
        <p:spPr>
          <a:xfrm>
            <a:off x="4505520" y="5002920"/>
            <a:ext cx="1907822" cy="646331"/>
          </a:xfrm>
          <a:prstGeom prst="rect">
            <a:avLst/>
          </a:prstGeom>
          <a:noFill/>
        </p:spPr>
        <p:txBody>
          <a:bodyPr wrap="square" rtlCol="0">
            <a:spAutoFit/>
          </a:bodyPr>
          <a:lstStyle/>
          <a:p>
            <a:pPr algn="ctr"/>
            <a:r>
              <a:rPr lang="en-US" dirty="0"/>
              <a:t>Modeling/</a:t>
            </a:r>
          </a:p>
          <a:p>
            <a:pPr algn="ctr"/>
            <a:r>
              <a:rPr lang="en-US" dirty="0"/>
              <a:t>Validation</a:t>
            </a:r>
          </a:p>
        </p:txBody>
      </p:sp>
      <p:sp>
        <p:nvSpPr>
          <p:cNvPr id="31" name="Rectangle 30">
            <a:extLst>
              <a:ext uri="{FF2B5EF4-FFF2-40B4-BE49-F238E27FC236}">
                <a16:creationId xmlns:a16="http://schemas.microsoft.com/office/drawing/2014/main" id="{99EF08BD-27A4-B1F3-BBFD-E7C19B7544A4}"/>
              </a:ext>
            </a:extLst>
          </p:cNvPr>
          <p:cNvSpPr/>
          <p:nvPr/>
        </p:nvSpPr>
        <p:spPr>
          <a:xfrm>
            <a:off x="4642451" y="6031880"/>
            <a:ext cx="1608664" cy="585108"/>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3FCF813-1162-F22A-E9E3-DD2EEADBD93F}"/>
              </a:ext>
            </a:extLst>
          </p:cNvPr>
          <p:cNvSpPr txBox="1"/>
          <p:nvPr/>
        </p:nvSpPr>
        <p:spPr>
          <a:xfrm>
            <a:off x="4477953" y="6116983"/>
            <a:ext cx="1907822" cy="369332"/>
          </a:xfrm>
          <a:prstGeom prst="rect">
            <a:avLst/>
          </a:prstGeom>
          <a:noFill/>
        </p:spPr>
        <p:txBody>
          <a:bodyPr wrap="square" rtlCol="0">
            <a:spAutoFit/>
          </a:bodyPr>
          <a:lstStyle/>
          <a:p>
            <a:pPr algn="ctr"/>
            <a:r>
              <a:rPr lang="en-US" dirty="0"/>
              <a:t>Discussion</a:t>
            </a:r>
          </a:p>
        </p:txBody>
      </p:sp>
      <p:sp>
        <p:nvSpPr>
          <p:cNvPr id="39" name="Down Arrow 38">
            <a:extLst>
              <a:ext uri="{FF2B5EF4-FFF2-40B4-BE49-F238E27FC236}">
                <a16:creationId xmlns:a16="http://schemas.microsoft.com/office/drawing/2014/main" id="{74E7A42E-F45C-3851-F5AA-41C30796131C}"/>
              </a:ext>
            </a:extLst>
          </p:cNvPr>
          <p:cNvSpPr/>
          <p:nvPr/>
        </p:nvSpPr>
        <p:spPr>
          <a:xfrm>
            <a:off x="5323134" y="127307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a:extLst>
              <a:ext uri="{FF2B5EF4-FFF2-40B4-BE49-F238E27FC236}">
                <a16:creationId xmlns:a16="http://schemas.microsoft.com/office/drawing/2014/main" id="{BFB24673-7D55-4ACE-39E9-B68FB6699D9D}"/>
              </a:ext>
            </a:extLst>
          </p:cNvPr>
          <p:cNvSpPr/>
          <p:nvPr/>
        </p:nvSpPr>
        <p:spPr>
          <a:xfrm>
            <a:off x="5325567" y="2365629"/>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a:extLst>
              <a:ext uri="{FF2B5EF4-FFF2-40B4-BE49-F238E27FC236}">
                <a16:creationId xmlns:a16="http://schemas.microsoft.com/office/drawing/2014/main" id="{25059CAE-CC93-04F6-1A40-592A405F677D}"/>
              </a:ext>
            </a:extLst>
          </p:cNvPr>
          <p:cNvSpPr/>
          <p:nvPr/>
        </p:nvSpPr>
        <p:spPr>
          <a:xfrm>
            <a:off x="5323915" y="3463066"/>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a:extLst>
              <a:ext uri="{FF2B5EF4-FFF2-40B4-BE49-F238E27FC236}">
                <a16:creationId xmlns:a16="http://schemas.microsoft.com/office/drawing/2014/main" id="{9FA25347-D3A9-147B-35FE-716A87D1C328}"/>
              </a:ext>
            </a:extLst>
          </p:cNvPr>
          <p:cNvSpPr/>
          <p:nvPr/>
        </p:nvSpPr>
        <p:spPr>
          <a:xfrm>
            <a:off x="5323132" y="4566574"/>
            <a:ext cx="214489" cy="313852"/>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wn Arrow 42">
            <a:extLst>
              <a:ext uri="{FF2B5EF4-FFF2-40B4-BE49-F238E27FC236}">
                <a16:creationId xmlns:a16="http://schemas.microsoft.com/office/drawing/2014/main" id="{0AE1DF70-FAF9-A52C-51CD-0ADD3988C469}"/>
              </a:ext>
            </a:extLst>
          </p:cNvPr>
          <p:cNvSpPr/>
          <p:nvPr/>
        </p:nvSpPr>
        <p:spPr>
          <a:xfrm>
            <a:off x="5323133" y="572990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9ACD3BB2-3CE1-FCE3-EBBE-DB7B676A91C1}"/>
              </a:ext>
            </a:extLst>
          </p:cNvPr>
          <p:cNvSpPr/>
          <p:nvPr/>
        </p:nvSpPr>
        <p:spPr>
          <a:xfrm>
            <a:off x="101919" y="603201"/>
            <a:ext cx="4217926" cy="2179951"/>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a:extLst>
              <a:ext uri="{FF2B5EF4-FFF2-40B4-BE49-F238E27FC236}">
                <a16:creationId xmlns:a16="http://schemas.microsoft.com/office/drawing/2014/main" id="{C5ED909B-B6F7-9CF1-BD75-B4C385D51E10}"/>
              </a:ext>
            </a:extLst>
          </p:cNvPr>
          <p:cNvSpPr/>
          <p:nvPr/>
        </p:nvSpPr>
        <p:spPr>
          <a:xfrm>
            <a:off x="169418" y="4074848"/>
            <a:ext cx="4165938" cy="254061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592B5973-02BC-C6E3-77F0-58E64A162B2F}"/>
              </a:ext>
            </a:extLst>
          </p:cNvPr>
          <p:cNvSpPr/>
          <p:nvPr/>
        </p:nvSpPr>
        <p:spPr>
          <a:xfrm>
            <a:off x="4465642" y="2469105"/>
            <a:ext cx="2184148" cy="222052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ounded Rectangle 74">
            <a:extLst>
              <a:ext uri="{FF2B5EF4-FFF2-40B4-BE49-F238E27FC236}">
                <a16:creationId xmlns:a16="http://schemas.microsoft.com/office/drawing/2014/main" id="{DD9BC6A0-5FF2-307F-821D-B61374FC4B8E}"/>
              </a:ext>
            </a:extLst>
          </p:cNvPr>
          <p:cNvSpPr/>
          <p:nvPr/>
        </p:nvSpPr>
        <p:spPr>
          <a:xfrm>
            <a:off x="6848499" y="374099"/>
            <a:ext cx="5294195" cy="6343149"/>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02B275C3-B1A2-4F1F-9EE9-F18D3FEDFF31}"/>
              </a:ext>
            </a:extLst>
          </p:cNvPr>
          <p:cNvSpPr/>
          <p:nvPr/>
        </p:nvSpPr>
        <p:spPr>
          <a:xfrm>
            <a:off x="4496505" y="4813182"/>
            <a:ext cx="2153285" cy="193142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Curved Connector 78">
            <a:extLst>
              <a:ext uri="{FF2B5EF4-FFF2-40B4-BE49-F238E27FC236}">
                <a16:creationId xmlns:a16="http://schemas.microsoft.com/office/drawing/2014/main" id="{101C8347-512B-115C-A8A6-CFE972409018}"/>
              </a:ext>
            </a:extLst>
          </p:cNvPr>
          <p:cNvCxnSpPr>
            <a:cxnSpLocks/>
          </p:cNvCxnSpPr>
          <p:nvPr/>
        </p:nvCxnSpPr>
        <p:spPr>
          <a:xfrm rot="10800000">
            <a:off x="4060704" y="1546858"/>
            <a:ext cx="679381" cy="471620"/>
          </a:xfrm>
          <a:prstGeom prst="curvedConnector3">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urved Connector 80">
            <a:extLst>
              <a:ext uri="{FF2B5EF4-FFF2-40B4-BE49-F238E27FC236}">
                <a16:creationId xmlns:a16="http://schemas.microsoft.com/office/drawing/2014/main" id="{E4113FB3-2095-9FDC-9896-F3D26D68C80D}"/>
              </a:ext>
            </a:extLst>
          </p:cNvPr>
          <p:cNvCxnSpPr>
            <a:cxnSpLocks/>
          </p:cNvCxnSpPr>
          <p:nvPr/>
        </p:nvCxnSpPr>
        <p:spPr>
          <a:xfrm rot="5400000">
            <a:off x="3792858" y="4170871"/>
            <a:ext cx="716208" cy="467248"/>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urved Connector 96">
            <a:extLst>
              <a:ext uri="{FF2B5EF4-FFF2-40B4-BE49-F238E27FC236}">
                <a16:creationId xmlns:a16="http://schemas.microsoft.com/office/drawing/2014/main" id="{01ECC95E-9506-FF29-7D2A-665C612C142E}"/>
              </a:ext>
            </a:extLst>
          </p:cNvPr>
          <p:cNvCxnSpPr>
            <a:cxnSpLocks/>
          </p:cNvCxnSpPr>
          <p:nvPr/>
        </p:nvCxnSpPr>
        <p:spPr>
          <a:xfrm rot="5400000" flipH="1" flipV="1">
            <a:off x="6452300" y="5572680"/>
            <a:ext cx="877721" cy="464710"/>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111277F-55E9-481D-37B5-288EB502F5F6}"/>
              </a:ext>
            </a:extLst>
          </p:cNvPr>
          <p:cNvSpPr/>
          <p:nvPr/>
        </p:nvSpPr>
        <p:spPr>
          <a:xfrm>
            <a:off x="3312523" y="3295535"/>
            <a:ext cx="1608664" cy="787019"/>
          </a:xfrm>
          <a:prstGeom prst="rect">
            <a:avLst/>
          </a:prstGeom>
          <a:solidFill>
            <a:srgbClr val="FF0000"/>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7469E46-E2A1-0004-6490-0E3B45D96370}"/>
              </a:ext>
            </a:extLst>
          </p:cNvPr>
          <p:cNvSpPr txBox="1"/>
          <p:nvPr/>
        </p:nvSpPr>
        <p:spPr>
          <a:xfrm>
            <a:off x="3329528" y="3366131"/>
            <a:ext cx="1608664" cy="646331"/>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Feature</a:t>
            </a:r>
          </a:p>
          <a:p>
            <a:pPr algn="ctr"/>
            <a:r>
              <a:rPr lang="en-US" altLang="zh-CN" dirty="0">
                <a:latin typeface="Arial" panose="020B0604020202020204" pitchFamily="34" charset="0"/>
                <a:cs typeface="Arial" panose="020B0604020202020204" pitchFamily="34" charset="0"/>
              </a:rPr>
              <a:t>Engineering</a:t>
            </a:r>
            <a:endParaRPr lang="en-US"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BDC14E66-80D1-8CB2-CFB9-6CFE3F7B6E3E}"/>
              </a:ext>
            </a:extLst>
          </p:cNvPr>
          <p:cNvSpPr txBox="1"/>
          <p:nvPr/>
        </p:nvSpPr>
        <p:spPr>
          <a:xfrm>
            <a:off x="201596" y="946262"/>
            <a:ext cx="6100762" cy="338554"/>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Water</a:t>
            </a:r>
            <a:r>
              <a:rPr lang="zh-CN" altLang="en-US" sz="16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Quality</a:t>
            </a:r>
            <a:r>
              <a:rPr lang="zh-CN" altLang="en-US" sz="16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Data:</a:t>
            </a:r>
            <a:r>
              <a:rPr lang="zh-CN" altLang="en-US"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p:txBody>
      </p:sp>
      <p:sp>
        <p:nvSpPr>
          <p:cNvPr id="11" name="Slide Number Placeholder 10">
            <a:extLst>
              <a:ext uri="{FF2B5EF4-FFF2-40B4-BE49-F238E27FC236}">
                <a16:creationId xmlns:a16="http://schemas.microsoft.com/office/drawing/2014/main" id="{7D1931CE-4A42-8F14-ABBE-ED478B9934B2}"/>
              </a:ext>
            </a:extLst>
          </p:cNvPr>
          <p:cNvSpPr>
            <a:spLocks noGrp="1"/>
          </p:cNvSpPr>
          <p:nvPr>
            <p:ph type="sldNum" sz="quarter" idx="12"/>
          </p:nvPr>
        </p:nvSpPr>
        <p:spPr/>
        <p:txBody>
          <a:bodyPr/>
          <a:lstStyle/>
          <a:p>
            <a:fld id="{83863B2D-D332-084B-BF65-F0D9A30319D9}" type="slidenum">
              <a:rPr lang="en-US" smtClean="0"/>
              <a:t>14</a:t>
            </a:fld>
            <a:endParaRPr lang="en-US"/>
          </a:p>
        </p:txBody>
      </p:sp>
      <p:pic>
        <p:nvPicPr>
          <p:cNvPr id="13" name="Picture 12" descr="A close-up of a graph&#10;&#10;AI-generated content may be incorrect.">
            <a:extLst>
              <a:ext uri="{FF2B5EF4-FFF2-40B4-BE49-F238E27FC236}">
                <a16:creationId xmlns:a16="http://schemas.microsoft.com/office/drawing/2014/main" id="{D11ABC79-9DD8-1D25-ADAF-E1F582BBF5FE}"/>
              </a:ext>
            </a:extLst>
          </p:cNvPr>
          <p:cNvPicPr>
            <a:picLocks noChangeAspect="1"/>
          </p:cNvPicPr>
          <p:nvPr/>
        </p:nvPicPr>
        <p:blipFill>
          <a:blip r:embed="rId4"/>
          <a:stretch>
            <a:fillRect/>
          </a:stretch>
        </p:blipFill>
        <p:spPr>
          <a:xfrm>
            <a:off x="7386633" y="628491"/>
            <a:ext cx="4217926" cy="1267836"/>
          </a:xfrm>
          <a:prstGeom prst="rect">
            <a:avLst/>
          </a:prstGeom>
        </p:spPr>
      </p:pic>
      <p:pic>
        <p:nvPicPr>
          <p:cNvPr id="27" name="Picture 26" descr="A blue text on a white background&#10;&#10;AI-generated content may be incorrect.">
            <a:extLst>
              <a:ext uri="{FF2B5EF4-FFF2-40B4-BE49-F238E27FC236}">
                <a16:creationId xmlns:a16="http://schemas.microsoft.com/office/drawing/2014/main" id="{8B4C1A38-EBA6-FFF3-0D4C-FD6A0D8BCE19}"/>
              </a:ext>
            </a:extLst>
          </p:cNvPr>
          <p:cNvPicPr>
            <a:picLocks noChangeAspect="1"/>
          </p:cNvPicPr>
          <p:nvPr/>
        </p:nvPicPr>
        <p:blipFill>
          <a:blip r:embed="rId5"/>
          <a:stretch>
            <a:fillRect/>
          </a:stretch>
        </p:blipFill>
        <p:spPr>
          <a:xfrm>
            <a:off x="2336173" y="1852272"/>
            <a:ext cx="1942239" cy="678755"/>
          </a:xfrm>
          <a:prstGeom prst="rect">
            <a:avLst/>
          </a:prstGeom>
        </p:spPr>
      </p:pic>
      <p:sp>
        <p:nvSpPr>
          <p:cNvPr id="28" name="TextBox 27">
            <a:extLst>
              <a:ext uri="{FF2B5EF4-FFF2-40B4-BE49-F238E27FC236}">
                <a16:creationId xmlns:a16="http://schemas.microsoft.com/office/drawing/2014/main" id="{DB7B1DAF-A102-A767-333F-B7B876FAF9A1}"/>
              </a:ext>
            </a:extLst>
          </p:cNvPr>
          <p:cNvSpPr txBox="1"/>
          <p:nvPr/>
        </p:nvSpPr>
        <p:spPr>
          <a:xfrm>
            <a:off x="81195" y="2045995"/>
            <a:ext cx="2965847" cy="369332"/>
          </a:xfrm>
          <a:prstGeom prst="rect">
            <a:avLst/>
          </a:prstGeom>
          <a:noFill/>
        </p:spPr>
        <p:txBody>
          <a:bodyPr wrap="square" rtlCol="0">
            <a:spAutoFit/>
          </a:bodyPr>
          <a:lstStyle/>
          <a:p>
            <a:r>
              <a:rPr lang="en-US" dirty="0"/>
              <a:t>Sentinel-3 OLCI Data:</a:t>
            </a:r>
          </a:p>
        </p:txBody>
      </p:sp>
      <p:sp>
        <p:nvSpPr>
          <p:cNvPr id="34" name="TextBox 33">
            <a:extLst>
              <a:ext uri="{FF2B5EF4-FFF2-40B4-BE49-F238E27FC236}">
                <a16:creationId xmlns:a16="http://schemas.microsoft.com/office/drawing/2014/main" id="{168DB1C5-678D-D821-A156-91609D45527E}"/>
              </a:ext>
            </a:extLst>
          </p:cNvPr>
          <p:cNvSpPr txBox="1"/>
          <p:nvPr/>
        </p:nvSpPr>
        <p:spPr>
          <a:xfrm>
            <a:off x="717611" y="4713280"/>
            <a:ext cx="3009139" cy="646331"/>
          </a:xfrm>
          <a:prstGeom prst="rect">
            <a:avLst/>
          </a:prstGeom>
          <a:noFill/>
        </p:spPr>
        <p:txBody>
          <a:bodyPr wrap="square" rtlCol="0">
            <a:spAutoFit/>
          </a:bodyPr>
          <a:lstStyle/>
          <a:p>
            <a:r>
              <a:rPr lang="en-US" dirty="0"/>
              <a:t>Include Band Ratios?</a:t>
            </a:r>
          </a:p>
          <a:p>
            <a:endParaRPr lang="en-US" dirty="0"/>
          </a:p>
        </p:txBody>
      </p:sp>
      <p:sp>
        <p:nvSpPr>
          <p:cNvPr id="36" name="TextBox 35">
            <a:extLst>
              <a:ext uri="{FF2B5EF4-FFF2-40B4-BE49-F238E27FC236}">
                <a16:creationId xmlns:a16="http://schemas.microsoft.com/office/drawing/2014/main" id="{4876054E-A53D-F0E4-072D-244888A8774E}"/>
              </a:ext>
            </a:extLst>
          </p:cNvPr>
          <p:cNvSpPr txBox="1"/>
          <p:nvPr/>
        </p:nvSpPr>
        <p:spPr>
          <a:xfrm>
            <a:off x="375949" y="4189314"/>
            <a:ext cx="4294182" cy="369332"/>
          </a:xfrm>
          <a:prstGeom prst="rect">
            <a:avLst/>
          </a:prstGeom>
          <a:noFill/>
        </p:spPr>
        <p:txBody>
          <a:bodyPr wrap="square" rtlCol="0">
            <a:spAutoFit/>
          </a:bodyPr>
          <a:lstStyle/>
          <a:p>
            <a:r>
              <a:rPr lang="en-US" dirty="0"/>
              <a:t>With Atmosphere Correction or not?</a:t>
            </a:r>
          </a:p>
        </p:txBody>
      </p:sp>
      <p:sp>
        <p:nvSpPr>
          <p:cNvPr id="37" name="TextBox 36">
            <a:extLst>
              <a:ext uri="{FF2B5EF4-FFF2-40B4-BE49-F238E27FC236}">
                <a16:creationId xmlns:a16="http://schemas.microsoft.com/office/drawing/2014/main" id="{6EC06B30-D921-1181-BF64-664A7D4BCFA9}"/>
              </a:ext>
            </a:extLst>
          </p:cNvPr>
          <p:cNvSpPr txBox="1"/>
          <p:nvPr/>
        </p:nvSpPr>
        <p:spPr>
          <a:xfrm>
            <a:off x="1031125" y="5201467"/>
            <a:ext cx="3009139" cy="369332"/>
          </a:xfrm>
          <a:prstGeom prst="rect">
            <a:avLst/>
          </a:prstGeom>
          <a:noFill/>
        </p:spPr>
        <p:txBody>
          <a:bodyPr wrap="square" rtlCol="0">
            <a:spAutoFit/>
          </a:bodyPr>
          <a:lstStyle/>
          <a:p>
            <a:r>
              <a:rPr lang="en-US" dirty="0"/>
              <a:t>Mask Ratio Threshold?</a:t>
            </a:r>
          </a:p>
        </p:txBody>
      </p:sp>
      <p:sp>
        <p:nvSpPr>
          <p:cNvPr id="44" name="TextBox 43">
            <a:extLst>
              <a:ext uri="{FF2B5EF4-FFF2-40B4-BE49-F238E27FC236}">
                <a16:creationId xmlns:a16="http://schemas.microsoft.com/office/drawing/2014/main" id="{D7DDC53F-99A5-A7C2-D421-865899B13ADE}"/>
              </a:ext>
            </a:extLst>
          </p:cNvPr>
          <p:cNvSpPr txBox="1"/>
          <p:nvPr/>
        </p:nvSpPr>
        <p:spPr>
          <a:xfrm>
            <a:off x="1325975" y="5640891"/>
            <a:ext cx="3009139" cy="369332"/>
          </a:xfrm>
          <a:prstGeom prst="rect">
            <a:avLst/>
          </a:prstGeom>
          <a:noFill/>
        </p:spPr>
        <p:txBody>
          <a:bodyPr wrap="square" rtlCol="0">
            <a:spAutoFit/>
          </a:bodyPr>
          <a:lstStyle/>
          <a:p>
            <a:r>
              <a:rPr lang="en-US" dirty="0"/>
              <a:t>Patch Radius?</a:t>
            </a:r>
          </a:p>
        </p:txBody>
      </p:sp>
      <p:sp>
        <p:nvSpPr>
          <p:cNvPr id="45" name="TextBox 44">
            <a:extLst>
              <a:ext uri="{FF2B5EF4-FFF2-40B4-BE49-F238E27FC236}">
                <a16:creationId xmlns:a16="http://schemas.microsoft.com/office/drawing/2014/main" id="{8D9D81D5-E5AA-D664-EEB2-632A3C1403BF}"/>
              </a:ext>
            </a:extLst>
          </p:cNvPr>
          <p:cNvSpPr txBox="1"/>
          <p:nvPr/>
        </p:nvSpPr>
        <p:spPr>
          <a:xfrm>
            <a:off x="1036096" y="6109848"/>
            <a:ext cx="4287036" cy="369332"/>
          </a:xfrm>
          <a:prstGeom prst="rect">
            <a:avLst/>
          </a:prstGeom>
          <a:noFill/>
        </p:spPr>
        <p:txBody>
          <a:bodyPr wrap="square" rtlCol="0">
            <a:spAutoFit/>
          </a:bodyPr>
          <a:lstStyle/>
          <a:p>
            <a:r>
              <a:rPr lang="en-US" dirty="0"/>
              <a:t>Date exactly match ?</a:t>
            </a:r>
          </a:p>
        </p:txBody>
      </p:sp>
      <p:pic>
        <p:nvPicPr>
          <p:cNvPr id="47" name="Picture 46" descr="A comparison of a graph&#10;&#10;AI-generated content may be incorrect.">
            <a:extLst>
              <a:ext uri="{FF2B5EF4-FFF2-40B4-BE49-F238E27FC236}">
                <a16:creationId xmlns:a16="http://schemas.microsoft.com/office/drawing/2014/main" id="{96272CA1-94D0-DF61-6A9F-31804709682E}"/>
              </a:ext>
            </a:extLst>
          </p:cNvPr>
          <p:cNvPicPr>
            <a:picLocks noChangeAspect="1"/>
          </p:cNvPicPr>
          <p:nvPr/>
        </p:nvPicPr>
        <p:blipFill>
          <a:blip r:embed="rId6"/>
          <a:stretch>
            <a:fillRect/>
          </a:stretch>
        </p:blipFill>
        <p:spPr>
          <a:xfrm>
            <a:off x="7386633" y="2230661"/>
            <a:ext cx="4299245" cy="1759577"/>
          </a:xfrm>
          <a:prstGeom prst="rect">
            <a:avLst/>
          </a:prstGeom>
        </p:spPr>
      </p:pic>
      <p:pic>
        <p:nvPicPr>
          <p:cNvPr id="57" name="Picture 56" descr="A map of a sea&#10;&#10;AI-generated content may be incorrect.">
            <a:extLst>
              <a:ext uri="{FF2B5EF4-FFF2-40B4-BE49-F238E27FC236}">
                <a16:creationId xmlns:a16="http://schemas.microsoft.com/office/drawing/2014/main" id="{0FBECB79-E840-0CD6-6EB9-616F5702EF02}"/>
              </a:ext>
            </a:extLst>
          </p:cNvPr>
          <p:cNvPicPr>
            <a:picLocks noChangeAspect="1"/>
          </p:cNvPicPr>
          <p:nvPr/>
        </p:nvPicPr>
        <p:blipFill>
          <a:blip r:embed="rId7"/>
          <a:stretch>
            <a:fillRect/>
          </a:stretch>
        </p:blipFill>
        <p:spPr>
          <a:xfrm>
            <a:off x="7584171" y="3975846"/>
            <a:ext cx="1756809" cy="2510469"/>
          </a:xfrm>
          <a:prstGeom prst="rect">
            <a:avLst/>
          </a:prstGeom>
        </p:spPr>
      </p:pic>
      <p:pic>
        <p:nvPicPr>
          <p:cNvPr id="60" name="Picture 59" descr="A map of a sea&#10;&#10;AI-generated content may be incorrect.">
            <a:extLst>
              <a:ext uri="{FF2B5EF4-FFF2-40B4-BE49-F238E27FC236}">
                <a16:creationId xmlns:a16="http://schemas.microsoft.com/office/drawing/2014/main" id="{9C2F85B5-448D-C919-0988-C0A752ED8282}"/>
              </a:ext>
            </a:extLst>
          </p:cNvPr>
          <p:cNvPicPr>
            <a:picLocks noChangeAspect="1"/>
          </p:cNvPicPr>
          <p:nvPr/>
        </p:nvPicPr>
        <p:blipFill>
          <a:blip r:embed="rId8"/>
          <a:stretch>
            <a:fillRect/>
          </a:stretch>
        </p:blipFill>
        <p:spPr>
          <a:xfrm>
            <a:off x="9696844" y="4012462"/>
            <a:ext cx="1756809" cy="2420603"/>
          </a:xfrm>
          <a:prstGeom prst="rect">
            <a:avLst/>
          </a:prstGeom>
        </p:spPr>
      </p:pic>
    </p:spTree>
    <p:extLst>
      <p:ext uri="{BB962C8B-B14F-4D97-AF65-F5344CB8AC3E}">
        <p14:creationId xmlns:p14="http://schemas.microsoft.com/office/powerpoint/2010/main" val="3835502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DF1A67-5EDB-E0EC-A7FE-CCC1E4E30BD0}"/>
              </a:ext>
            </a:extLst>
          </p:cNvPr>
          <p:cNvSpPr>
            <a:spLocks noGrp="1"/>
          </p:cNvSpPr>
          <p:nvPr>
            <p:ph type="sldNum" sz="quarter" idx="12"/>
          </p:nvPr>
        </p:nvSpPr>
        <p:spPr/>
        <p:txBody>
          <a:bodyPr/>
          <a:lstStyle/>
          <a:p>
            <a:fld id="{83863B2D-D332-084B-BF65-F0D9A30319D9}" type="slidenum">
              <a:rPr lang="en-US" smtClean="0"/>
              <a:t>15</a:t>
            </a:fld>
            <a:endParaRPr lang="en-US"/>
          </a:p>
        </p:txBody>
      </p:sp>
    </p:spTree>
    <p:extLst>
      <p:ext uri="{BB962C8B-B14F-4D97-AF65-F5344CB8AC3E}">
        <p14:creationId xmlns:p14="http://schemas.microsoft.com/office/powerpoint/2010/main" val="4162801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16912</TotalTime>
  <Words>1563</Words>
  <Application>Microsoft Macintosh PowerPoint</Application>
  <PresentationFormat>Widescreen</PresentationFormat>
  <Paragraphs>174</Paragraphs>
  <Slides>15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 Xu Guo</dc:creator>
  <cp:lastModifiedBy>Xiao Xu Guo</cp:lastModifiedBy>
  <cp:revision>20</cp:revision>
  <dcterms:created xsi:type="dcterms:W3CDTF">2025-05-24T23:36:44Z</dcterms:created>
  <dcterms:modified xsi:type="dcterms:W3CDTF">2025-09-05T13:26:32Z</dcterms:modified>
</cp:coreProperties>
</file>